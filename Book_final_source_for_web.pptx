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3-1.jpg" ContentType="image/jpg"/>
  <Override PartName="/ppt/media/image-15-1.jpg" ContentType="image/jpg"/>
  <Override PartName="/ppt/media/image-16-1.jpg" ContentType="image/jpg"/>
  <Override PartName="/ppt/media/image-16-2.jpg" ContentType="image/jpg"/>
  <Override PartName="/ppt/media/image-17-1.jpg" ContentType="image/jpg"/>
  <Override PartName="/ppt/media/image-18-1.jpg" ContentType="image/jpg"/>
  <Override PartName="/ppt/media/image-2-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0691988" cy="7559985"/>
  <p:notesSz cx="7559985" cy="106919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jpg"/><Relationship Id="rId5" Type="http://schemas.openxmlformats.org/officeDocument/2006/relationships/image" Target="../media/image2.jpg"/><Relationship Id="rId6" Type="http://schemas.openxmlformats.org/officeDocument/2006/relationships/image" Target="../media/image9.jpg"/><Relationship Id="rId7"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7-1.jp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 Id="rId5" Type="http://schemas.openxmlformats.org/officeDocument/2006/relationships/image" Target="../media/image-4-1.jpg"/><Relationship Id="rId6"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Box 1"/>
          <p:cNvSpPr txBox="1"/>
          <p:nvPr/>
        </p:nvSpPr>
        <p:spPr>
          <a:xfrm>
            <a:off x="566928" y="530352"/>
            <a:ext cx="1737360" cy="137160"/>
          </a:xfrm>
          <a:prstGeom prst="rect">
            <a:avLst/>
          </a:prstGeom>
          <a:noFill/>
        </p:spPr>
        <p:txBody>
          <a:bodyPr wrap="square" lIns="0" rIns="0" tIns="0" bIns="0">
            <a:spAutoFit/>
          </a:bodyPr>
          <a:lstStyle/>
          <a:p>
            <a:pPr algn="l"/>
            <a:r>
              <a:rPr sz="600" b="1">
                <a:solidFill>
                  <a:srgbClr val="6E6A63"/>
                </a:solidFill>
                <a:latin typeface="Arial"/>
              </a:rPr>
              <a:t>PARTNERSHIP BOOK</a:t>
            </a:r>
          </a:p>
        </p:txBody>
      </p:sp>
      <p:sp>
        <p:nvSpPr>
          <p:cNvPr id="3" name="TextBox 2"/>
          <p:cNvSpPr txBox="1"/>
          <p:nvPr/>
        </p:nvSpPr>
        <p:spPr>
          <a:xfrm>
            <a:off x="566928" y="1417320"/>
            <a:ext cx="2834640" cy="822960"/>
          </a:xfrm>
          <a:prstGeom prst="rect">
            <a:avLst/>
          </a:prstGeom>
          <a:noFill/>
        </p:spPr>
        <p:txBody>
          <a:bodyPr wrap="square" lIns="0" rIns="0" tIns="0" bIns="0">
            <a:spAutoFit/>
          </a:bodyPr>
          <a:lstStyle/>
          <a:p>
            <a:pPr algn="l"/>
            <a:r>
              <a:rPr sz="2600" b="1">
                <a:solidFill>
                  <a:srgbClr val="141412"/>
                </a:solidFill>
                <a:latin typeface="Arial"/>
              </a:rPr>
              <a:t>PIERRE
GEISSE</a:t>
            </a:r>
          </a:p>
        </p:txBody>
      </p:sp>
      <p:sp>
        <p:nvSpPr>
          <p:cNvPr id="4" name="TextBox 3"/>
          <p:cNvSpPr txBox="1"/>
          <p:nvPr/>
        </p:nvSpPr>
        <p:spPr>
          <a:xfrm>
            <a:off x="585216" y="2578608"/>
            <a:ext cx="2103120" cy="164592"/>
          </a:xfrm>
          <a:prstGeom prst="rect">
            <a:avLst/>
          </a:prstGeom>
          <a:noFill/>
        </p:spPr>
        <p:txBody>
          <a:bodyPr wrap="square" lIns="0" rIns="0" tIns="0" bIns="0">
            <a:spAutoFit/>
          </a:bodyPr>
          <a:lstStyle/>
          <a:p>
            <a:pPr algn="l"/>
            <a:r>
              <a:rPr sz="800" b="0">
                <a:solidFill>
                  <a:srgbClr val="141412"/>
                </a:solidFill>
                <a:latin typeface="Arial"/>
              </a:rPr>
              <a:t>BMX RACING — ÉLITE</a:t>
            </a:r>
          </a:p>
        </p:txBody>
      </p:sp>
      <p:sp>
        <p:nvSpPr>
          <p:cNvPr id="5" name="TextBox 4"/>
          <p:cNvSpPr txBox="1"/>
          <p:nvPr/>
        </p:nvSpPr>
        <p:spPr>
          <a:xfrm>
            <a:off x="585216" y="6272784"/>
            <a:ext cx="2286000" cy="146304"/>
          </a:xfrm>
          <a:prstGeom prst="rect">
            <a:avLst/>
          </a:prstGeom>
          <a:noFill/>
        </p:spPr>
        <p:txBody>
          <a:bodyPr wrap="square" lIns="0" rIns="0" tIns="0" bIns="0">
            <a:spAutoFit/>
          </a:bodyPr>
          <a:lstStyle/>
          <a:p>
            <a:pPr algn="l"/>
            <a:r>
              <a:rPr sz="620" b="1">
                <a:solidFill>
                  <a:srgbClr val="6E6A63"/>
                </a:solidFill>
                <a:latin typeface="Arial"/>
              </a:rPr>
              <a:t>ROAD TO 2032</a:t>
            </a:r>
          </a:p>
        </p:txBody>
      </p:sp>
      <p:pic>
        <p:nvPicPr>
          <p:cNvPr id="6" name="Picture 5" descr="cover_bw.jpg"/>
          <p:cNvPicPr>
            <a:picLocks noChangeAspect="1"/>
          </p:cNvPicPr>
          <p:nvPr/>
        </p:nvPicPr>
        <p:blipFill>
          <a:blip r:embed="rId4"/>
          <a:srcRect l="10069" r="10069"/>
          <a:stretch>
            <a:fillRect/>
          </a:stretch>
        </p:blipFill>
        <p:spPr>
          <a:xfrm>
            <a:off x="3977639" y="0"/>
            <a:ext cx="8211312" cy="6858000"/>
          </a:xfrm>
          <a:prstGeom prst="rect">
            <a:avLst/>
          </a:prstGeom>
        </p:spPr>
      </p:pic>
      <p:sp>
        <p:nvSpPr>
          <p:cNvPr id="7" name="TextBox 6"/>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FAF8F3"/>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pic>
        <p:nvPicPr>
          <p:cNvPr id="2" name="Picture 1" descr="child_oriented.jpg"/>
          <p:cNvPicPr>
            <a:picLocks noChangeAspect="1"/>
          </p:cNvPicPr>
          <p:nvPr/>
        </p:nvPicPr>
        <p:blipFill>
          <a:blip r:embed="rId4"/>
          <a:srcRect l="4222" r="4222"/>
          <a:stretch>
            <a:fillRect/>
          </a:stretch>
        </p:blipFill>
        <p:spPr>
          <a:xfrm>
            <a:off x="0" y="0"/>
            <a:ext cx="4709160" cy="6858000"/>
          </a:xfrm>
          <a:prstGeom prst="rect">
            <a:avLst/>
          </a:prstGeom>
        </p:spPr>
      </p:pic>
      <p:sp>
        <p:nvSpPr>
          <p:cNvPr id="3" name="TextBox 2"/>
          <p:cNvSpPr txBox="1"/>
          <p:nvPr/>
        </p:nvSpPr>
        <p:spPr>
          <a:xfrm>
            <a:off x="5230368" y="566928"/>
            <a:ext cx="1097280" cy="164592"/>
          </a:xfrm>
          <a:prstGeom prst="rect">
            <a:avLst/>
          </a:prstGeom>
          <a:noFill/>
        </p:spPr>
        <p:txBody>
          <a:bodyPr wrap="square" lIns="0" rIns="0" tIns="0" bIns="0">
            <a:spAutoFit/>
          </a:bodyPr>
          <a:lstStyle/>
          <a:p>
            <a:pPr algn="l"/>
            <a:r>
              <a:rPr sz="800" b="1">
                <a:solidFill>
                  <a:srgbClr val="6E6A63"/>
                </a:solidFill>
                <a:latin typeface="Arial"/>
              </a:rPr>
              <a:t>2008.</a:t>
            </a:r>
          </a:p>
        </p:txBody>
      </p:sp>
      <p:sp>
        <p:nvSpPr>
          <p:cNvPr id="4" name="TextBox 3"/>
          <p:cNvSpPr txBox="1"/>
          <p:nvPr/>
        </p:nvSpPr>
        <p:spPr>
          <a:xfrm>
            <a:off x="5230368" y="987552"/>
            <a:ext cx="4389120" cy="685800"/>
          </a:xfrm>
          <a:prstGeom prst="rect">
            <a:avLst/>
          </a:prstGeom>
          <a:noFill/>
        </p:spPr>
        <p:txBody>
          <a:bodyPr wrap="square" lIns="0" rIns="0" tIns="0" bIns="0">
            <a:spAutoFit/>
          </a:bodyPr>
          <a:lstStyle/>
          <a:p>
            <a:pPr algn="l"/>
            <a:r>
              <a:rPr sz="2300" b="1">
                <a:solidFill>
                  <a:srgbClr val="141412"/>
                </a:solidFill>
                <a:latin typeface="Arial"/>
              </a:rPr>
              <a:t>L’HISTOIRE
COMMENCE ICI.</a:t>
            </a:r>
          </a:p>
        </p:txBody>
      </p:sp>
      <p:sp>
        <p:nvSpPr>
          <p:cNvPr id="5" name="Rectangle 4"/>
          <p:cNvSpPr/>
          <p:nvPr/>
        </p:nvSpPr>
        <p:spPr>
          <a:xfrm>
            <a:off x="5230368" y="1810512"/>
            <a:ext cx="384048" cy="23774"/>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30368" y="2157984"/>
            <a:ext cx="4800600" cy="2148840"/>
          </a:xfrm>
          <a:prstGeom prst="rect">
            <a:avLst/>
          </a:prstGeom>
          <a:noFill/>
        </p:spPr>
        <p:txBody>
          <a:bodyPr wrap="square" lIns="0" rIns="0" tIns="0" bIns="0">
            <a:spAutoFit/>
          </a:bodyPr>
          <a:lstStyle/>
          <a:p>
            <a:pPr algn="l"/>
            <a:r>
              <a:rPr sz="1040" b="0">
                <a:solidFill>
                  <a:srgbClr val="141412"/>
                </a:solidFill>
                <a:latin typeface="Arial"/>
              </a:rPr>
              <a:t>En 2008, à 4 ans, je découvre le BMX au club de Saint‑Paul‑Trois‑Châteaux avec mon frère jumeau Charles.
À cet âge-là, il n’y a évidemment ni objectif de haut niveau, ni championnat du monde en tête. Juste l’envie de rouler, de s’amuser et de recommencer le week-end suivant.
Je ne le savais pas encore, mais près de vingt ans plus tard, le BMX ferait toujours partie de ma vie.</a:t>
            </a:r>
          </a:p>
        </p:txBody>
      </p:sp>
      <p:sp>
        <p:nvSpPr>
          <p:cNvPr id="7" name="TextBox 6"/>
          <p:cNvSpPr txBox="1"/>
          <p:nvPr/>
        </p:nvSpPr>
        <p:spPr>
          <a:xfrm>
            <a:off x="5230368" y="6327648"/>
            <a:ext cx="2286000" cy="137160"/>
          </a:xfrm>
          <a:prstGeom prst="rect">
            <a:avLst/>
          </a:prstGeom>
          <a:noFill/>
        </p:spPr>
        <p:txBody>
          <a:bodyPr wrap="square" lIns="0" rIns="0" tIns="0" bIns="0">
            <a:spAutoFit/>
          </a:bodyPr>
          <a:lstStyle/>
          <a:p>
            <a:pPr algn="l"/>
            <a:r>
              <a:rPr sz="640" b="1">
                <a:solidFill>
                  <a:srgbClr val="6E6A63"/>
                </a:solidFill>
                <a:latin typeface="Arial"/>
              </a:rPr>
              <a:t>SAINT-PAUL-TROIS-CHÂTEAUX</a:t>
            </a:r>
          </a:p>
        </p:txBody>
      </p:sp>
      <p:sp>
        <p:nvSpPr>
          <p:cNvPr id="8" name="TextBox 7"/>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6E6A63"/>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6"/>
          <a:srcRect l="8186" r="8186"/>
          <a:stretch>
            <a:fillRect/>
          </a:stretch>
        </p:blipFill>
        <p:spPr>
          <a:xfrm>
            <a:off x="502920" y="868680"/>
            <a:ext cx="2880360" cy="5166360"/>
          </a:xfrm>
          <a:prstGeom prst="rect">
            <a:avLst/>
          </a:prstGeom>
        </p:spPr>
      </p:pic>
      <p:pic>
        <p:nvPicPr>
          <p:cNvPr id="3" name="Picture 2" descr="image.jpg"/>
          <p:cNvPicPr>
            <a:picLocks noChangeAspect="1"/>
          </p:cNvPicPr>
          <p:nvPr/>
        </p:nvPicPr>
        <p:blipFill>
          <a:blip r:embed="rId7"/>
          <a:srcRect l="17388" r="17388"/>
          <a:stretch>
            <a:fillRect/>
          </a:stretch>
        </p:blipFill>
        <p:spPr>
          <a:xfrm>
            <a:off x="3611880" y="1234440"/>
            <a:ext cx="2788920" cy="4434840"/>
          </a:xfrm>
          <a:prstGeom prst="rect">
            <a:avLst/>
          </a:prstGeom>
        </p:spPr>
      </p:pic>
      <p:sp>
        <p:nvSpPr>
          <p:cNvPr id="4" name="TextBox 3"/>
          <p:cNvSpPr txBox="1"/>
          <p:nvPr/>
        </p:nvSpPr>
        <p:spPr>
          <a:xfrm>
            <a:off x="6903720" y="566928"/>
            <a:ext cx="1280160" cy="164592"/>
          </a:xfrm>
          <a:prstGeom prst="rect">
            <a:avLst/>
          </a:prstGeom>
          <a:noFill/>
        </p:spPr>
        <p:txBody>
          <a:bodyPr wrap="square" lIns="0" rIns="0" tIns="0" bIns="0">
            <a:spAutoFit/>
          </a:bodyPr>
          <a:lstStyle/>
          <a:p>
            <a:pPr algn="l"/>
            <a:r>
              <a:rPr sz="800" b="1">
                <a:solidFill>
                  <a:srgbClr val="6E6A63"/>
                </a:solidFill>
                <a:latin typeface="Arial"/>
              </a:rPr>
              <a:t>2018 — 2019</a:t>
            </a:r>
          </a:p>
        </p:txBody>
      </p:sp>
      <p:sp>
        <p:nvSpPr>
          <p:cNvPr id="5" name="TextBox 4"/>
          <p:cNvSpPr txBox="1"/>
          <p:nvPr/>
        </p:nvSpPr>
        <p:spPr>
          <a:xfrm>
            <a:off x="6903720" y="950976"/>
            <a:ext cx="2926080" cy="457200"/>
          </a:xfrm>
          <a:prstGeom prst="rect">
            <a:avLst/>
          </a:prstGeom>
          <a:noFill/>
        </p:spPr>
        <p:txBody>
          <a:bodyPr wrap="square" lIns="0" rIns="0" tIns="0" bIns="0">
            <a:spAutoFit/>
          </a:bodyPr>
          <a:lstStyle/>
          <a:p>
            <a:pPr algn="l"/>
            <a:r>
              <a:rPr sz="2400" b="1">
                <a:solidFill>
                  <a:srgbClr val="141412"/>
                </a:solidFill>
                <a:latin typeface="Arial"/>
              </a:rPr>
              <a:t>LE DÉCLIC.</a:t>
            </a:r>
          </a:p>
        </p:txBody>
      </p:sp>
      <p:sp>
        <p:nvSpPr>
          <p:cNvPr id="6" name="Rectangle 5"/>
          <p:cNvSpPr/>
          <p:nvPr/>
        </p:nvSpPr>
        <p:spPr>
          <a:xfrm>
            <a:off x="6903720" y="1527048"/>
            <a:ext cx="384048" cy="22860"/>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03720" y="1810512"/>
            <a:ext cx="4407408" cy="3977639"/>
          </a:xfrm>
          <a:prstGeom prst="rect">
            <a:avLst/>
          </a:prstGeom>
          <a:noFill/>
        </p:spPr>
        <p:txBody>
          <a:bodyPr wrap="square" lIns="0" rIns="0" tIns="0" bIns="0">
            <a:spAutoFit/>
          </a:bodyPr>
          <a:lstStyle/>
          <a:p>
            <a:pPr algn="l">
              <a:spcAft>
                <a:spcPts val="800"/>
              </a:spcAft>
            </a:pPr>
            <a:r>
              <a:rPr sz="819">
                <a:solidFill>
                  <a:srgbClr val="141412"/>
                </a:solidFill>
                <a:latin typeface="Arial"/>
              </a:rPr>
              <a:t>À 14 ans, le BMX change de dimension. Après un premier hiver de préparation structuré, j’aborde les Coupes de France avec une autre ambition et je découvre progressivement le niveau européen.</a:t>
            </a:r>
          </a:p>
          <a:p>
            <a:pPr algn="l">
              <a:spcAft>
                <a:spcPts val="800"/>
              </a:spcAft>
            </a:pPr>
            <a:r>
              <a:rPr sz="819">
                <a:solidFill>
                  <a:srgbClr val="141412"/>
                </a:solidFill>
                <a:latin typeface="Arial"/>
              </a:rPr>
              <a:t>En 2018, je décroche mes premières victoires nationales. Je remporte plusieurs manches de Coupe de France, le classement général ainsi que le Challenge France. Cette saison marque également mes premières finales européennes.</a:t>
            </a:r>
          </a:p>
          <a:p>
            <a:pPr algn="l">
              <a:spcAft>
                <a:spcPts val="800"/>
              </a:spcAft>
            </a:pPr>
            <a:r>
              <a:rPr sz="819">
                <a:solidFill>
                  <a:srgbClr val="141412"/>
                </a:solidFill>
                <a:latin typeface="Arial"/>
              </a:rPr>
              <a:t>En 2019, je termine 6e du classement général de la Coupe de France Cadet, premier pilote de mon âge, puis 6e du Championnat d’Europe et 3e du Championnat du Monde.</a:t>
            </a:r>
          </a:p>
          <a:p>
            <a:pPr algn="l">
              <a:spcAft>
                <a:spcPts val="800"/>
              </a:spcAft>
            </a:pPr>
            <a:r>
              <a:rPr sz="819">
                <a:solidFill>
                  <a:srgbClr val="141412"/>
                </a:solidFill>
                <a:latin typeface="Arial"/>
              </a:rPr>
              <a:t>Ces résultats marquent un tournant : à la fin de la saison 2019, j’intègre le Pôle France Jeune de Bourges. Le BMX n’est plus seulement une passion. Il devient un projet de haut niveau.</a:t>
            </a:r>
          </a:p>
        </p:txBody>
      </p:sp>
      <p:sp>
        <p:nvSpPr>
          <p:cNvPr id="8" name="TextBox 7"/>
          <p:cNvSpPr txBox="1"/>
          <p:nvPr/>
        </p:nvSpPr>
        <p:spPr>
          <a:xfrm>
            <a:off x="566928" y="6355080"/>
            <a:ext cx="2926080" cy="128016"/>
          </a:xfrm>
          <a:prstGeom prst="rect">
            <a:avLst/>
          </a:prstGeom>
          <a:noFill/>
        </p:spPr>
        <p:txBody>
          <a:bodyPr wrap="square" lIns="0" rIns="0" tIns="0" bIns="0">
            <a:spAutoFit/>
          </a:bodyPr>
          <a:lstStyle/>
          <a:p>
            <a:pPr algn="l"/>
            <a:r>
              <a:rPr sz="640" b="1">
                <a:solidFill>
                  <a:srgbClr val="6E6A63"/>
                </a:solidFill>
                <a:latin typeface="Arial"/>
              </a:rPr>
              <a:t>2019 • PREMIÈRES RÉFÉRENCES MONDIALES</a:t>
            </a:r>
          </a:p>
        </p:txBody>
      </p:sp>
      <p:sp>
        <p:nvSpPr>
          <p:cNvPr id="9" name="TextBox 8"/>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6E6A63"/>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4"/>
          <a:srcRect l="20452" r="20452"/>
          <a:stretch>
            <a:fillRect/>
          </a:stretch>
        </p:blipFill>
        <p:spPr>
          <a:xfrm>
            <a:off x="0" y="0"/>
            <a:ext cx="6080760" cy="6858000"/>
          </a:xfrm>
          <a:prstGeom prst="rect">
            <a:avLst/>
          </a:prstGeom>
        </p:spPr>
      </p:pic>
      <p:sp>
        <p:nvSpPr>
          <p:cNvPr id="3" name="TextBox 2"/>
          <p:cNvSpPr txBox="1"/>
          <p:nvPr/>
        </p:nvSpPr>
        <p:spPr>
          <a:xfrm>
            <a:off x="6565392" y="585216"/>
            <a:ext cx="1645920" cy="164592"/>
          </a:xfrm>
          <a:prstGeom prst="rect">
            <a:avLst/>
          </a:prstGeom>
          <a:noFill/>
        </p:spPr>
        <p:txBody>
          <a:bodyPr wrap="square" lIns="0" rIns="0" tIns="0" bIns="0">
            <a:spAutoFit/>
          </a:bodyPr>
          <a:lstStyle/>
          <a:p>
            <a:pPr algn="l"/>
            <a:r>
              <a:rPr sz="800" b="1">
                <a:solidFill>
                  <a:srgbClr val="6E6A63"/>
                </a:solidFill>
                <a:latin typeface="Arial"/>
              </a:rPr>
              <a:t>2020 — 2022</a:t>
            </a:r>
          </a:p>
        </p:txBody>
      </p:sp>
      <p:sp>
        <p:nvSpPr>
          <p:cNvPr id="4" name="TextBox 3"/>
          <p:cNvSpPr txBox="1"/>
          <p:nvPr/>
        </p:nvSpPr>
        <p:spPr>
          <a:xfrm>
            <a:off x="6565392" y="987552"/>
            <a:ext cx="3840480" cy="530352"/>
          </a:xfrm>
          <a:prstGeom prst="rect">
            <a:avLst/>
          </a:prstGeom>
          <a:noFill/>
        </p:spPr>
        <p:txBody>
          <a:bodyPr wrap="square" lIns="0" rIns="0" tIns="0" bIns="0">
            <a:spAutoFit/>
          </a:bodyPr>
          <a:lstStyle/>
          <a:p>
            <a:pPr algn="l"/>
            <a:r>
              <a:rPr sz="2200" b="1">
                <a:solidFill>
                  <a:srgbClr val="141412"/>
                </a:solidFill>
                <a:latin typeface="Arial"/>
              </a:rPr>
              <a:t>VERS LE
HAUT NIVEAU.</a:t>
            </a:r>
          </a:p>
        </p:txBody>
      </p:sp>
      <p:sp>
        <p:nvSpPr>
          <p:cNvPr id="5" name="Rectangle 4"/>
          <p:cNvSpPr/>
          <p:nvPr/>
        </p:nvSpPr>
        <p:spPr>
          <a:xfrm>
            <a:off x="6565392" y="1682496"/>
            <a:ext cx="384048" cy="22860"/>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5392" y="1993392"/>
            <a:ext cx="4370832" cy="3520440"/>
          </a:xfrm>
          <a:prstGeom prst="rect">
            <a:avLst/>
          </a:prstGeom>
          <a:noFill/>
        </p:spPr>
        <p:txBody>
          <a:bodyPr wrap="square" lIns="0" rIns="0" tIns="0" bIns="0">
            <a:spAutoFit/>
          </a:bodyPr>
          <a:lstStyle/>
          <a:p>
            <a:pPr algn="l">
              <a:spcAft>
                <a:spcPts val="800"/>
              </a:spcAft>
            </a:pPr>
            <a:r>
              <a:rPr sz="880">
                <a:solidFill>
                  <a:srgbClr val="141412"/>
                </a:solidFill>
                <a:latin typeface="Arial"/>
              </a:rPr>
              <a:t>Après plusieurs années sur le circuit national, l’intégration au Pôle France change ma manière de travailler. L’entraînement devient quotidien, structuré, et chaque détail commence à compter.</a:t>
            </a:r>
          </a:p>
          <a:p>
            <a:pPr algn="l">
              <a:spcAft>
                <a:spcPts val="800"/>
              </a:spcAft>
            </a:pPr>
            <a:r>
              <a:rPr sz="880">
                <a:solidFill>
                  <a:srgbClr val="141412"/>
                </a:solidFill>
                <a:latin typeface="Arial"/>
              </a:rPr>
              <a:t>Je découvre ce que signifie être entouré au quotidien pour progresser : technique, physique, récupération, nutrition, analyse vidéo. Chaque séance devient une occasion de construire un peu plus le niveau nécessaire pour exister au niveau international.</a:t>
            </a:r>
          </a:p>
          <a:p>
            <a:pPr algn="l">
              <a:spcAft>
                <a:spcPts val="800"/>
              </a:spcAft>
            </a:pPr>
            <a:r>
              <a:rPr sz="880">
                <a:solidFill>
                  <a:srgbClr val="141412"/>
                </a:solidFill>
                <a:latin typeface="Arial"/>
              </a:rPr>
              <a:t>Les années Junior confirment cette progression, avec notamment un double titre de champion de France en 2022 : course et contre-la-montre.</a:t>
            </a:r>
          </a:p>
        </p:txBody>
      </p:sp>
      <p:sp>
        <p:nvSpPr>
          <p:cNvPr id="7" name="TextBox 6"/>
          <p:cNvSpPr txBox="1"/>
          <p:nvPr/>
        </p:nvSpPr>
        <p:spPr>
          <a:xfrm>
            <a:off x="6565392" y="6236208"/>
            <a:ext cx="2286000" cy="128016"/>
          </a:xfrm>
          <a:prstGeom prst="rect">
            <a:avLst/>
          </a:prstGeom>
          <a:noFill/>
        </p:spPr>
        <p:txBody>
          <a:bodyPr wrap="square" lIns="0" rIns="0" tIns="0" bIns="0">
            <a:spAutoFit/>
          </a:bodyPr>
          <a:lstStyle/>
          <a:p>
            <a:pPr algn="l"/>
            <a:r>
              <a:rPr sz="640" b="1">
                <a:solidFill>
                  <a:srgbClr val="6E6A63"/>
                </a:solidFill>
                <a:latin typeface="Arial"/>
              </a:rPr>
              <a:t>PÔLE FRANCE • JUNIOR</a:t>
            </a:r>
          </a:p>
        </p:txBody>
      </p:sp>
      <p:sp>
        <p:nvSpPr>
          <p:cNvPr id="8" name="TextBox 7"/>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6E6A63"/>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02920" y="594360"/>
            <a:ext cx="4754880" cy="914400"/>
          </a:xfrm>
          <a:prstGeom prst="rect">
            <a:avLst/>
          </a:prstGeom>
          <a:noFill/>
          <a:ln/>
        </p:spPr>
        <p:txBody>
          <a:bodyPr wrap="square" lIns="0" tIns="0" rIns="0" bIns="0" rtlCol="0" anchor="t">
            <a:normAutofit/>
          </a:bodyPr>
          <a:lstStyle/>
          <a:p>
            <a:pPr algn="l" indent="0" marL="0">
              <a:buNone/>
            </a:pPr>
            <a:r>
              <a:rPr lang="en-US" sz="2400" b="1" dirty="0">
                <a:solidFill>
                  <a:srgbClr val="111111"/>
                </a:solidFill>
                <a:latin typeface="Arial" pitchFamily="34" charset="0"/>
                <a:ea typeface="Arial" pitchFamily="34" charset="-122"/>
                <a:cs typeface="Arial" pitchFamily="34" charset="-120"/>
              </a:rPr>
              <a:t>APPRENDRE À VIVRE</a:t>
            </a:r>
            <a:endParaRPr lang="en-US" sz="2400" dirty="0"/>
          </a:p>
          <a:p>
            <a:pPr algn="l" indent="0" marL="0">
              <a:buNone/>
            </a:pPr>
            <a:r>
              <a:rPr lang="en-US" sz="2400" b="1" dirty="0">
                <a:solidFill>
                  <a:srgbClr val="111111"/>
                </a:solidFill>
                <a:latin typeface="Arial" pitchFamily="34" charset="0"/>
                <a:ea typeface="Arial" pitchFamily="34" charset="-122"/>
                <a:cs typeface="Arial" pitchFamily="34" charset="-120"/>
              </a:rPr>
              <a:t>COMME UN ATHLÈTE.</a:t>
            </a:r>
            <a:endParaRPr lang="en-US" sz="2400" dirty="0"/>
          </a:p>
        </p:txBody>
      </p:sp>
      <p:sp>
        <p:nvSpPr>
          <p:cNvPr id="3" name="Text 1"/>
          <p:cNvSpPr/>
          <p:nvPr/>
        </p:nvSpPr>
        <p:spPr>
          <a:xfrm>
            <a:off x="530352" y="1691640"/>
            <a:ext cx="45720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PÔLE FRANCE — BOURGES → SAINT-QUENTIN-EN-YVELINES</a:t>
            </a:r>
            <a:endParaRPr lang="en-US" sz="620" dirty="0"/>
          </a:p>
        </p:txBody>
      </p:sp>
      <p:sp>
        <p:nvSpPr>
          <p:cNvPr id="4" name="Text 2"/>
          <p:cNvSpPr/>
          <p:nvPr/>
        </p:nvSpPr>
        <p:spPr>
          <a:xfrm>
            <a:off x="530352" y="2240280"/>
            <a:ext cx="4297680" cy="3474720"/>
          </a:xfrm>
          <a:prstGeom prst="rect">
            <a:avLst/>
          </a:prstGeom>
          <a:noFill/>
          <a:ln/>
        </p:spPr>
        <p:txBody>
          <a:bodyPr wrap="square" lIns="0" tIns="0" rIns="0" bIns="0" rtlCol="0" anchor="t">
            <a:normAutofit/>
          </a:bodyPr>
          <a:lstStyle/>
          <a:p>
            <a:pPr algn="l" indent="0" marL="0">
              <a:buNone/>
            </a:pPr>
            <a:r>
              <a:rPr lang="en-US" sz="930" dirty="0">
                <a:solidFill>
                  <a:srgbClr val="111111"/>
                </a:solidFill>
                <a:latin typeface="Arial" pitchFamily="34" charset="0"/>
                <a:ea typeface="Arial" pitchFamily="34" charset="-122"/>
                <a:cs typeface="Arial" pitchFamily="34" charset="-120"/>
              </a:rPr>
              <a:t>J’ai passé deux ans au Pôle France Jeune de Bourges avant d’intégrer le Pôle France Olympique de Saint-Quentin-en-Yvelines, aujourd’hui installé sur le site des Jeux Olympiques de Paris 2024.</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Ces années m’ont appris bien plus que la technique. Elles m’ont appris à structurer une semaine, à m’entraîner avec exigence, à récupérer, à analyser une course et à recommencer. Le BMX devient progressivement mon quotidien.</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Les résultats suivent : champion de France Junior du contre-la-montre en 2021, puis double champion de France Junior en 2022. Cette même année, je termine 5e du Championnat d’Europe et 6e du Championnat du Monde. Je commence à me mesurer régulièrement au niveau international.</a:t>
            </a:r>
            <a:endParaRPr lang="en-US" sz="930" dirty="0"/>
          </a:p>
        </p:txBody>
      </p:sp>
      <p:pic>
        <p:nvPicPr>
          <p:cNvPr id="5" name="Image 0" descr="/mnt/data/IMG_6918.JPG">    </p:cNvPr>
          <p:cNvPicPr>
            <a:picLocks noChangeAspect="1"/>
          </p:cNvPicPr>
          <p:nvPr/>
        </p:nvPicPr>
        <p:blipFill>
          <a:blip r:embed="rId1"/>
          <a:srcRect l="22939" r="22939" t="0" b="0"/>
          <a:stretch/>
        </p:blipFill>
        <p:spPr>
          <a:xfrm>
            <a:off x="5257800" y="457200"/>
            <a:ext cx="4937760" cy="6080760"/>
          </a:xfrm>
          <a:prstGeom prst="rect">
            <a:avLst/>
          </a:prstGeom>
        </p:spPr>
      </p:pic>
      <p:sp>
        <p:nvSpPr>
          <p:cNvPr id="6" name="Text 3"/>
          <p:cNvSpPr/>
          <p:nvPr/>
        </p:nvSpPr>
        <p:spPr>
          <a:xfrm>
            <a:off x="5276088" y="6784848"/>
            <a:ext cx="27432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2021 — 2022 / ANNÉES JUNIOR</a:t>
            </a:r>
            <a:endParaRPr lang="en-US" sz="620" dirty="0"/>
          </a:p>
        </p:txBody>
      </p:sp>
      <p:sp>
        <p:nvSpPr>
          <p:cNvPr id="7" name="Text 4"/>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05 / 18</a:t>
            </a:r>
            <a:endParaRPr lang="en-US" sz="5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Rectangle 1"/>
          <p:cNvSpPr/>
          <p:nvPr/>
        </p:nvSpPr>
        <p:spPr>
          <a:xfrm>
            <a:off x="0" y="0"/>
            <a:ext cx="4800600" cy="6858000"/>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57200"/>
            <a:ext cx="1645920" cy="164592"/>
          </a:xfrm>
          <a:prstGeom prst="rect">
            <a:avLst/>
          </a:prstGeom>
          <a:noFill/>
        </p:spPr>
        <p:txBody>
          <a:bodyPr wrap="square" lIns="0" rIns="0" tIns="0" bIns="0">
            <a:spAutoFit/>
          </a:bodyPr>
          <a:lstStyle/>
          <a:p>
            <a:pPr algn="l"/>
            <a:r>
              <a:rPr sz="800" b="1">
                <a:solidFill>
                  <a:srgbClr val="B9B4AC"/>
                </a:solidFill>
                <a:latin typeface="Arial"/>
              </a:rPr>
              <a:t>2023 — 2024</a:t>
            </a:r>
          </a:p>
        </p:txBody>
      </p:sp>
      <p:sp>
        <p:nvSpPr>
          <p:cNvPr id="4" name="TextBox 3"/>
          <p:cNvSpPr txBox="1"/>
          <p:nvPr/>
        </p:nvSpPr>
        <p:spPr>
          <a:xfrm>
            <a:off x="530352" y="786384"/>
            <a:ext cx="3291840" cy="658368"/>
          </a:xfrm>
          <a:prstGeom prst="rect">
            <a:avLst/>
          </a:prstGeom>
          <a:noFill/>
        </p:spPr>
        <p:txBody>
          <a:bodyPr wrap="square" lIns="0" rIns="0" tIns="0" bIns="0">
            <a:spAutoFit/>
          </a:bodyPr>
          <a:lstStyle/>
          <a:p>
            <a:pPr algn="l"/>
            <a:r>
              <a:rPr sz="2200" b="1">
                <a:solidFill>
                  <a:srgbClr val="FAF8F3"/>
                </a:solidFill>
                <a:latin typeface="Arial"/>
              </a:rPr>
              <a:t>UNE COUPURE
BRUTALE.</a:t>
            </a:r>
          </a:p>
        </p:txBody>
      </p:sp>
      <p:sp>
        <p:nvSpPr>
          <p:cNvPr id="5" name="Rectangle 4"/>
          <p:cNvSpPr/>
          <p:nvPr/>
        </p:nvSpPr>
        <p:spPr>
          <a:xfrm>
            <a:off x="530352" y="1591056"/>
            <a:ext cx="384048" cy="2286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901952"/>
            <a:ext cx="3611880" cy="3566160"/>
          </a:xfrm>
          <a:prstGeom prst="rect">
            <a:avLst/>
          </a:prstGeom>
          <a:noFill/>
        </p:spPr>
        <p:txBody>
          <a:bodyPr wrap="square" lIns="0" rIns="0" tIns="0" bIns="0">
            <a:spAutoFit/>
          </a:bodyPr>
          <a:lstStyle/>
          <a:p>
            <a:pPr algn="l">
              <a:spcAft>
                <a:spcPts val="800"/>
              </a:spcAft>
            </a:pPr>
            <a:r>
              <a:rPr sz="825">
                <a:solidFill>
                  <a:srgbClr val="FAF8F3"/>
                </a:solidFill>
                <a:latin typeface="Arial"/>
              </a:rPr>
              <a:t>Début 2023, des douleurs au dos deviennent progressivement incompatibles avec l’entraînement et la compétition. Malgré une qualification pour les Championnats du Monde, je dois finalement renoncer à prendre le départ.</a:t>
            </a:r>
          </a:p>
          <a:p>
            <a:pPr algn="l">
              <a:spcAft>
                <a:spcPts val="800"/>
              </a:spcAft>
            </a:pPr>
            <a:r>
              <a:rPr sz="825">
                <a:solidFill>
                  <a:srgbClr val="FAF8F3"/>
                </a:solidFill>
                <a:latin typeface="Arial"/>
              </a:rPr>
              <a:t>Après plusieurs mois d’examens, une malformation osseuse lombaire congénitale est identifiée. Elle a endommagé les disques et nécessite une opération, suivie de huit mois de convalescence.</a:t>
            </a:r>
          </a:p>
          <a:p>
            <a:pPr algn="l">
              <a:spcAft>
                <a:spcPts val="800"/>
              </a:spcAft>
            </a:pPr>
            <a:r>
              <a:rPr sz="825">
                <a:solidFill>
                  <a:srgbClr val="FAF8F3"/>
                </a:solidFill>
                <a:latin typeface="Arial"/>
              </a:rPr>
              <a:t>Cette blessure m’éloigne du BMX, mais m’oblige surtout à gagner très vite en maturité sportive. Elle change ma manière d’aborder l’entraînement, la récupération et plus largement ma carrière. Je suis conscient qu’elle m’accompagnera toute ma vie et qu’elle fait désormais partie des paramètres avec lesquels je dois construire ma performance.</a:t>
            </a:r>
          </a:p>
        </p:txBody>
      </p:sp>
      <p:sp>
        <p:nvSpPr>
          <p:cNvPr id="7" name="TextBox 6"/>
          <p:cNvSpPr txBox="1"/>
          <p:nvPr/>
        </p:nvSpPr>
        <p:spPr>
          <a:xfrm>
            <a:off x="530352" y="6309360"/>
            <a:ext cx="3474720" cy="137160"/>
          </a:xfrm>
          <a:prstGeom prst="rect">
            <a:avLst/>
          </a:prstGeom>
          <a:noFill/>
        </p:spPr>
        <p:txBody>
          <a:bodyPr wrap="square" lIns="0" rIns="0" tIns="0" bIns="0">
            <a:spAutoFit/>
          </a:bodyPr>
          <a:lstStyle/>
          <a:p>
            <a:pPr algn="l"/>
            <a:r>
              <a:rPr sz="620" b="1">
                <a:solidFill>
                  <a:srgbClr val="B9B4AC"/>
                </a:solidFill>
                <a:latin typeface="Arial"/>
              </a:rPr>
              <a:t>UNE SAISON À L’ARRÊT. UN PROJET QUI CONTINUE.</a:t>
            </a:r>
          </a:p>
        </p:txBody>
      </p:sp>
      <p:pic>
        <p:nvPicPr>
          <p:cNvPr id="8" name="Picture 7" descr="scar_only_v3.jpg"/>
          <p:cNvPicPr>
            <a:picLocks noChangeAspect="1"/>
          </p:cNvPicPr>
          <p:nvPr/>
        </p:nvPicPr>
        <p:blipFill>
          <a:blip r:embed="rId8"/>
          <a:srcRect t="18601" b="18601"/>
          <a:stretch>
            <a:fillRect/>
          </a:stretch>
        </p:blipFill>
        <p:spPr>
          <a:xfrm>
            <a:off x="4800600" y="0"/>
            <a:ext cx="7388352" cy="3246120"/>
          </a:xfrm>
          <a:prstGeom prst="rect">
            <a:avLst/>
          </a:prstGeom>
        </p:spPr>
      </p:pic>
      <p:pic>
        <p:nvPicPr>
          <p:cNvPr id="9" name="Picture 8" descr="image.jpg"/>
          <p:cNvPicPr>
            <a:picLocks noChangeAspect="1"/>
          </p:cNvPicPr>
          <p:nvPr/>
        </p:nvPicPr>
        <p:blipFill>
          <a:blip r:embed="rId6"/>
          <a:srcRect t="8746" b="8746"/>
          <a:stretch>
            <a:fillRect/>
          </a:stretch>
        </p:blipFill>
        <p:spPr>
          <a:xfrm>
            <a:off x="4800600" y="3429000"/>
            <a:ext cx="7388352" cy="3429000"/>
          </a:xfrm>
          <a:prstGeom prst="rect">
            <a:avLst/>
          </a:prstGeom>
        </p:spPr>
      </p:pic>
      <p:sp>
        <p:nvSpPr>
          <p:cNvPr id="10" name="TextBox 9"/>
          <p:cNvSpPr txBox="1"/>
          <p:nvPr/>
        </p:nvSpPr>
        <p:spPr>
          <a:xfrm>
            <a:off x="5074920" y="2944368"/>
            <a:ext cx="2011680" cy="128016"/>
          </a:xfrm>
          <a:prstGeom prst="rect">
            <a:avLst/>
          </a:prstGeom>
          <a:noFill/>
        </p:spPr>
        <p:txBody>
          <a:bodyPr wrap="square" lIns="0" rIns="0" tIns="0" bIns="0">
            <a:spAutoFit/>
          </a:bodyPr>
          <a:lstStyle/>
          <a:p>
            <a:pPr algn="l"/>
            <a:r>
              <a:rPr sz="620" b="1">
                <a:solidFill>
                  <a:srgbClr val="FAF8F3"/>
                </a:solidFill>
                <a:latin typeface="Arial"/>
              </a:rPr>
              <a:t>APRÈS L’OPÉRATION</a:t>
            </a:r>
          </a:p>
        </p:txBody>
      </p:sp>
      <p:sp>
        <p:nvSpPr>
          <p:cNvPr id="11" name="TextBox 10"/>
          <p:cNvSpPr txBox="1"/>
          <p:nvPr/>
        </p:nvSpPr>
        <p:spPr>
          <a:xfrm>
            <a:off x="5074920" y="6510528"/>
            <a:ext cx="2286000" cy="128016"/>
          </a:xfrm>
          <a:prstGeom prst="rect">
            <a:avLst/>
          </a:prstGeom>
          <a:noFill/>
        </p:spPr>
        <p:txBody>
          <a:bodyPr wrap="square" lIns="0" rIns="0" tIns="0" bIns="0">
            <a:spAutoFit/>
          </a:bodyPr>
          <a:lstStyle/>
          <a:p>
            <a:pPr algn="l"/>
            <a:r>
              <a:rPr sz="620" b="1">
                <a:solidFill>
                  <a:srgbClr val="FAF8F3"/>
                </a:solidFill>
                <a:latin typeface="Arial"/>
              </a:rPr>
              <a:t>CORSET • CONVALESCENCE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30352" y="502920"/>
            <a:ext cx="640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2025</a:t>
            </a:r>
            <a:endParaRPr lang="en-US" sz="620" dirty="0"/>
          </a:p>
        </p:txBody>
      </p:sp>
      <p:sp>
        <p:nvSpPr>
          <p:cNvPr id="3" name="Text 1"/>
          <p:cNvSpPr/>
          <p:nvPr/>
        </p:nvSpPr>
        <p:spPr>
          <a:xfrm>
            <a:off x="502920" y="960120"/>
            <a:ext cx="3931920" cy="914400"/>
          </a:xfrm>
          <a:prstGeom prst="rect">
            <a:avLst/>
          </a:prstGeom>
          <a:noFill/>
          <a:ln/>
        </p:spPr>
        <p:txBody>
          <a:bodyPr wrap="square" lIns="0" tIns="0" rIns="0" bIns="0" rtlCol="0" anchor="t">
            <a:normAutofit/>
          </a:bodyPr>
          <a:lstStyle/>
          <a:p>
            <a:pPr algn="l" indent="0" marL="0">
              <a:buNone/>
            </a:pPr>
            <a:r>
              <a:rPr lang="en-US" sz="2700" b="1" dirty="0">
                <a:solidFill>
                  <a:srgbClr val="111111"/>
                </a:solidFill>
                <a:latin typeface="Arial" pitchFamily="34" charset="0"/>
                <a:ea typeface="Arial" pitchFamily="34" charset="-122"/>
                <a:cs typeface="Arial" pitchFamily="34" charset="-120"/>
              </a:rPr>
              <a:t>LE RETOUR.</a:t>
            </a:r>
            <a:endParaRPr lang="en-US" sz="2700" dirty="0"/>
          </a:p>
        </p:txBody>
      </p:sp>
      <p:sp>
        <p:nvSpPr>
          <p:cNvPr id="4" name="Text 2"/>
          <p:cNvSpPr/>
          <p:nvPr/>
        </p:nvSpPr>
        <p:spPr>
          <a:xfrm>
            <a:off x="530352" y="1737360"/>
            <a:ext cx="4160520" cy="3886200"/>
          </a:xfrm>
          <a:prstGeom prst="rect">
            <a:avLst/>
          </a:prstGeom>
          <a:noFill/>
          <a:ln/>
        </p:spPr>
        <p:txBody>
          <a:bodyPr wrap="square" lIns="0" tIns="0" rIns="0" bIns="0" rtlCol="0" anchor="t">
            <a:normAutofit/>
          </a:bodyPr>
          <a:lstStyle/>
          <a:p>
            <a:pPr algn="l" indent="0" marL="0">
              <a:buNone/>
            </a:pPr>
            <a:r>
              <a:rPr lang="en-US" sz="940" dirty="0">
                <a:solidFill>
                  <a:srgbClr val="111111"/>
                </a:solidFill>
                <a:latin typeface="Arial" pitchFamily="34" charset="0"/>
                <a:ea typeface="Arial" pitchFamily="34" charset="-122"/>
                <a:cs typeface="Arial" pitchFamily="34" charset="-120"/>
              </a:rPr>
              <a:t>2025 marque mon retour à la compétition de haut niveau. Dès ma première course, je retrouve un podium en Coupe d’Europe. Après presque deux années coupées par la blessure et la rééducation, ce résultat compte bien au-delà de la place obtenue.</a:t>
            </a:r>
            <a:endParaRPr lang="en-US" sz="940" dirty="0"/>
          </a:p>
          <a:p>
            <a:pPr algn="l" indent="0" marL="0">
              <a:buNone/>
            </a:pPr>
            <a:endParaRPr lang="en-US" sz="940" dirty="0"/>
          </a:p>
          <a:p>
            <a:pPr algn="l" indent="0" marL="0">
              <a:buNone/>
            </a:pPr>
            <a:r>
              <a:rPr lang="en-US" sz="940" dirty="0">
                <a:solidFill>
                  <a:srgbClr val="111111"/>
                </a:solidFill>
                <a:latin typeface="Arial" pitchFamily="34" charset="0"/>
                <a:ea typeface="Arial" pitchFamily="34" charset="-122"/>
                <a:cs typeface="Arial" pitchFamily="34" charset="-120"/>
              </a:rPr>
              <a:t>La saison confirme ensuite que je peux de nouveau jouer devant : vice-champion de France U23 et 4e du Championnat d’Europe. Je retrouve les sensations de la compétition, mais surtout la confiance nécessaire pour regarder à nouveau vers le plus haut niveau.</a:t>
            </a:r>
            <a:endParaRPr lang="en-US" sz="940" dirty="0"/>
          </a:p>
          <a:p>
            <a:pPr algn="l" indent="0" marL="0">
              <a:buNone/>
            </a:pPr>
            <a:endParaRPr lang="en-US" sz="940" dirty="0"/>
          </a:p>
          <a:p>
            <a:pPr algn="l" indent="0" marL="0">
              <a:buNone/>
            </a:pPr>
            <a:r>
              <a:rPr lang="en-US" sz="940" dirty="0">
                <a:solidFill>
                  <a:srgbClr val="111111"/>
                </a:solidFill>
                <a:latin typeface="Arial" pitchFamily="34" charset="0"/>
                <a:ea typeface="Arial" pitchFamily="34" charset="-122"/>
                <a:cs typeface="Arial" pitchFamily="34" charset="-120"/>
              </a:rPr>
              <a:t>Ce retour change aussi ma manière d’aborder ma carrière. Je ne considère plus une saison comme acquise. Chaque départ, chaque déplacement et chaque opportunité de courir ont une valeur différente.</a:t>
            </a:r>
            <a:endParaRPr lang="en-US" sz="940" dirty="0"/>
          </a:p>
        </p:txBody>
      </p:sp>
      <p:pic>
        <p:nvPicPr>
          <p:cNvPr id="5" name="Image 0" descr="/mnt/data/IMG_6917.JPG">    </p:cNvPr>
          <p:cNvPicPr>
            <a:picLocks noChangeAspect="1"/>
          </p:cNvPicPr>
          <p:nvPr/>
        </p:nvPicPr>
        <p:blipFill>
          <a:blip r:embed="rId1"/>
          <a:srcRect l="25251" r="25251" t="0" b="0"/>
          <a:stretch/>
        </p:blipFill>
        <p:spPr>
          <a:xfrm>
            <a:off x="5074920" y="0"/>
            <a:ext cx="5614416" cy="7559985"/>
          </a:xfrm>
          <a:prstGeom prst="rect">
            <a:avLst/>
          </a:prstGeom>
        </p:spPr>
      </p:pic>
      <p:sp>
        <p:nvSpPr>
          <p:cNvPr id="6" name="Text 3"/>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07 / 18</a:t>
            </a:r>
            <a:endParaRPr lang="en-US" sz="5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pic>
        <p:nvPicPr>
          <p:cNvPr id="2" name="Image 0" descr="/mnt/data/IMG_6927.JPG">    </p:cNvPr>
          <p:cNvPicPr>
            <a:picLocks noChangeAspect="1"/>
          </p:cNvPicPr>
          <p:nvPr/>
        </p:nvPicPr>
        <p:blipFill>
          <a:blip r:embed="rId1"/>
          <a:srcRect l="25009" r="25009" t="0" b="0"/>
          <a:stretch/>
        </p:blipFill>
        <p:spPr>
          <a:xfrm>
            <a:off x="0" y="0"/>
            <a:ext cx="5669280" cy="7559985"/>
          </a:xfrm>
          <a:prstGeom prst="rect">
            <a:avLst/>
          </a:prstGeom>
        </p:spPr>
      </p:pic>
      <p:sp>
        <p:nvSpPr>
          <p:cNvPr id="3" name="Text 0"/>
          <p:cNvSpPr/>
          <p:nvPr/>
        </p:nvSpPr>
        <p:spPr>
          <a:xfrm>
            <a:off x="6080760" y="502920"/>
            <a:ext cx="640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2026</a:t>
            </a:r>
            <a:endParaRPr lang="en-US" sz="620" dirty="0"/>
          </a:p>
        </p:txBody>
      </p:sp>
      <p:sp>
        <p:nvSpPr>
          <p:cNvPr id="4" name="Text 1"/>
          <p:cNvSpPr/>
          <p:nvPr/>
        </p:nvSpPr>
        <p:spPr>
          <a:xfrm>
            <a:off x="6080760" y="987552"/>
            <a:ext cx="4023360" cy="914400"/>
          </a:xfrm>
          <a:prstGeom prst="rect">
            <a:avLst/>
          </a:prstGeom>
          <a:noFill/>
          <a:ln/>
        </p:spPr>
        <p:txBody>
          <a:bodyPr wrap="square" lIns="0" tIns="0" rIns="0" bIns="0" rtlCol="0" anchor="t">
            <a:normAutofit/>
          </a:bodyPr>
          <a:lstStyle/>
          <a:p>
            <a:pPr algn="l" indent="0" marL="0">
              <a:buNone/>
            </a:pPr>
            <a:r>
              <a:rPr lang="en-US" sz="2500" b="1" dirty="0">
                <a:solidFill>
                  <a:srgbClr val="111111"/>
                </a:solidFill>
                <a:latin typeface="Arial" pitchFamily="34" charset="0"/>
                <a:ea typeface="Arial" pitchFamily="34" charset="-122"/>
                <a:cs typeface="Arial" pitchFamily="34" charset="-120"/>
              </a:rPr>
              <a:t>UN PREMIER PAS</a:t>
            </a:r>
            <a:endParaRPr lang="en-US" sz="2500" dirty="0"/>
          </a:p>
          <a:p>
            <a:pPr algn="l" indent="0" marL="0">
              <a:buNone/>
            </a:pPr>
            <a:r>
              <a:rPr lang="en-US" sz="2500" b="1" dirty="0">
                <a:solidFill>
                  <a:srgbClr val="111111"/>
                </a:solidFill>
                <a:latin typeface="Arial" pitchFamily="34" charset="0"/>
                <a:ea typeface="Arial" pitchFamily="34" charset="-122"/>
                <a:cs typeface="Arial" pitchFamily="34" charset="-120"/>
              </a:rPr>
              <a:t>CHEZ LES ÉLITES.</a:t>
            </a:r>
            <a:endParaRPr lang="en-US" sz="2500" dirty="0"/>
          </a:p>
        </p:txBody>
      </p:sp>
      <p:sp>
        <p:nvSpPr>
          <p:cNvPr id="5" name="Text 2"/>
          <p:cNvSpPr/>
          <p:nvPr/>
        </p:nvSpPr>
        <p:spPr>
          <a:xfrm>
            <a:off x="6080760" y="2331720"/>
            <a:ext cx="4069080" cy="3429000"/>
          </a:xfrm>
          <a:prstGeom prst="rect">
            <a:avLst/>
          </a:prstGeom>
          <a:noFill/>
          <a:ln/>
        </p:spPr>
        <p:txBody>
          <a:bodyPr wrap="square" lIns="0" tIns="0" rIns="0" bIns="0" rtlCol="0" anchor="t">
            <a:normAutofit/>
          </a:bodyPr>
          <a:lstStyle/>
          <a:p>
            <a:pPr algn="l" indent="0" marL="0">
              <a:buNone/>
            </a:pPr>
            <a:r>
              <a:rPr lang="en-US" sz="930" dirty="0">
                <a:solidFill>
                  <a:srgbClr val="111111"/>
                </a:solidFill>
                <a:latin typeface="Arial" pitchFamily="34" charset="0"/>
                <a:ea typeface="Arial" pitchFamily="34" charset="-122"/>
                <a:cs typeface="Arial" pitchFamily="34" charset="-120"/>
              </a:rPr>
              <a:t>Pour ma dernière année U23, je fais le choix de participer aux Coupes d’Europe en catégorie Élite. Dès la première course de l’année, j’entre en finale. Sur le circuit français, j’obtiens mon premier podium Élite puis une deuxième place quelques courses plus tard.</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L’objectif de la saison était aussi de retrouver un Championnat du Monde. Je me qualifie pour Brisbane, mais la compétition est finalement annulée en raison des conditions météorologiques.</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Malgré cette fin particulière, 2026 valide une chose essentielle : le passage chez les Élites n’est plus une projection. Je peux déjà me battre avec eux. En 2027, ce sera désormais ma catégorie à temps plein.</a:t>
            </a:r>
            <a:endParaRPr lang="en-US" sz="930" dirty="0"/>
          </a:p>
        </p:txBody>
      </p:sp>
      <p:sp>
        <p:nvSpPr>
          <p:cNvPr id="6" name="Text 3"/>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08 / 18</a:t>
            </a:r>
            <a:endParaRPr lang="en-US" sz="5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pic>
        <p:nvPicPr>
          <p:cNvPr id="2" name="Image 0" descr="/mnt/data/E78957FA-3643-403D-84C3-4B2D3CEBB81A.JPG">    </p:cNvPr>
          <p:cNvPicPr>
            <a:picLocks noChangeAspect="1"/>
          </p:cNvPicPr>
          <p:nvPr/>
        </p:nvPicPr>
        <p:blipFill>
          <a:blip r:embed="rId1"/>
          <a:srcRect l="16496" r="16496" t="0" b="0"/>
          <a:stretch/>
        </p:blipFill>
        <p:spPr>
          <a:xfrm>
            <a:off x="5623560" y="0"/>
            <a:ext cx="5065776" cy="7559985"/>
          </a:xfrm>
          <a:prstGeom prst="rect">
            <a:avLst/>
          </a:prstGeom>
        </p:spPr>
      </p:pic>
      <p:sp>
        <p:nvSpPr>
          <p:cNvPr id="3" name="Text 0"/>
          <p:cNvSpPr/>
          <p:nvPr/>
        </p:nvSpPr>
        <p:spPr>
          <a:xfrm>
            <a:off x="530352" y="502920"/>
            <a:ext cx="640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FFFFFF"/>
                </a:solidFill>
                <a:latin typeface="Arial" pitchFamily="34" charset="0"/>
                <a:ea typeface="Arial" pitchFamily="34" charset="-122"/>
                <a:cs typeface="Arial" pitchFamily="34" charset="-120"/>
              </a:rPr>
              <a:t>2027</a:t>
            </a:r>
            <a:endParaRPr lang="en-US" sz="620" dirty="0"/>
          </a:p>
        </p:txBody>
      </p:sp>
      <p:sp>
        <p:nvSpPr>
          <p:cNvPr id="4" name="Text 1"/>
          <p:cNvSpPr/>
          <p:nvPr/>
        </p:nvSpPr>
        <p:spPr>
          <a:xfrm>
            <a:off x="502920" y="960120"/>
            <a:ext cx="3931920" cy="91440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Arial" pitchFamily="34" charset="0"/>
                <a:ea typeface="Arial" pitchFamily="34" charset="-122"/>
                <a:cs typeface="Arial" pitchFamily="34" charset="-120"/>
              </a:rPr>
              <a:t>ÉLITE.</a:t>
            </a:r>
            <a:endParaRPr lang="en-US" sz="3400" dirty="0"/>
          </a:p>
        </p:txBody>
      </p:sp>
      <p:sp>
        <p:nvSpPr>
          <p:cNvPr id="5" name="Text 2"/>
          <p:cNvSpPr/>
          <p:nvPr/>
        </p:nvSpPr>
        <p:spPr>
          <a:xfrm>
            <a:off x="530352" y="1874520"/>
            <a:ext cx="4343400" cy="3566160"/>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À 22 ans, je franchis une nouvelle étape : je passe officiellement en catégorie Élite. C’est la catégorie où tout se joue au plus haut niveau, face aux meilleurs pilotes du monde.</a:t>
            </a:r>
            <a:endParaRPr lang="en-US" sz="940" dirty="0"/>
          </a:p>
          <a:p>
            <a:pPr algn="l" indent="0" marL="0">
              <a:buNone/>
            </a:pPr>
            <a:endParaRPr lang="en-US" sz="940" dirty="0"/>
          </a:p>
          <a:p>
            <a:pPr algn="l" indent="0" marL="0">
              <a:buNone/>
            </a:pPr>
            <a:r>
              <a:rPr lang="en-US" sz="940" dirty="0">
                <a:solidFill>
                  <a:srgbClr val="FFFFFF"/>
                </a:solidFill>
                <a:latin typeface="Arial" pitchFamily="34" charset="0"/>
                <a:ea typeface="Arial" pitchFamily="34" charset="-122"/>
                <a:cs typeface="Arial" pitchFamily="34" charset="-120"/>
              </a:rPr>
              <a:t>Mon objectif n’est pas simplement d’y participer. Je veux m’y installer durablement, construire des références internationales et progresser course après course.</a:t>
            </a:r>
            <a:endParaRPr lang="en-US" sz="940" dirty="0"/>
          </a:p>
          <a:p>
            <a:pPr algn="l" indent="0" marL="0">
              <a:buNone/>
            </a:pPr>
            <a:endParaRPr lang="en-US" sz="940" dirty="0"/>
          </a:p>
          <a:p>
            <a:pPr algn="l" indent="0" marL="0">
              <a:buNone/>
            </a:pPr>
            <a:r>
              <a:rPr lang="en-US" sz="940" dirty="0">
                <a:solidFill>
                  <a:srgbClr val="FFFFFF"/>
                </a:solidFill>
                <a:latin typeface="Arial" pitchFamily="34" charset="0"/>
                <a:ea typeface="Arial" pitchFamily="34" charset="-122"/>
                <a:cs typeface="Arial" pitchFamily="34" charset="-120"/>
              </a:rPr>
              <a:t>La priorité 2027 sera de monter sur un podium en Coupe d’Europe, de me qualifier pour les Championnats du Monde Élite en Savoie et, surtout, d’aller chercher une finale mondiale. Cette finale aurait une importance particulière : elle placerait le projet olympique 2028 dans une toute autre dimension.</a:t>
            </a:r>
            <a:endParaRPr lang="en-US" sz="940" dirty="0"/>
          </a:p>
        </p:txBody>
      </p:sp>
      <p:sp>
        <p:nvSpPr>
          <p:cNvPr id="6" name="Text 3"/>
          <p:cNvSpPr/>
          <p:nvPr/>
        </p:nvSpPr>
        <p:spPr>
          <a:xfrm>
            <a:off x="530352" y="6537960"/>
            <a:ext cx="36576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FFFFFF"/>
                </a:solidFill>
                <a:latin typeface="Arial" pitchFamily="34" charset="0"/>
                <a:ea typeface="Arial" pitchFamily="34" charset="-122"/>
                <a:cs typeface="Arial" pitchFamily="34" charset="-120"/>
              </a:rPr>
              <a:t>UNE NOUVELLE CATÉGORIE. LE MÊME PROJET.</a:t>
            </a:r>
            <a:endParaRPr lang="en-US" sz="620" dirty="0"/>
          </a:p>
        </p:txBody>
      </p:sp>
      <p:sp>
        <p:nvSpPr>
          <p:cNvPr id="7" name="Text 4"/>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FFFFFF"/>
                </a:solidFill>
                <a:latin typeface="Arial" pitchFamily="34" charset="0"/>
                <a:ea typeface="Arial" pitchFamily="34" charset="-122"/>
                <a:cs typeface="Arial" pitchFamily="34" charset="-120"/>
              </a:rPr>
              <a:t>09 / 18</a:t>
            </a:r>
            <a:endParaRPr lang="en-US" sz="5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02920" y="594360"/>
            <a:ext cx="4937760" cy="914400"/>
          </a:xfrm>
          <a:prstGeom prst="rect">
            <a:avLst/>
          </a:prstGeom>
          <a:noFill/>
          <a:ln/>
        </p:spPr>
        <p:txBody>
          <a:bodyPr wrap="square" lIns="0" tIns="0" rIns="0" bIns="0" rtlCol="0" anchor="t">
            <a:normAutofit/>
          </a:bodyPr>
          <a:lstStyle/>
          <a:p>
            <a:pPr algn="l" indent="0" marL="0">
              <a:buNone/>
            </a:pPr>
            <a:r>
              <a:rPr lang="en-US" sz="2800" b="1" dirty="0">
                <a:solidFill>
                  <a:srgbClr val="111111"/>
                </a:solidFill>
                <a:latin typeface="Arial" pitchFamily="34" charset="0"/>
                <a:ea typeface="Arial" pitchFamily="34" charset="-122"/>
                <a:cs typeface="Arial" pitchFamily="34" charset="-120"/>
              </a:rPr>
              <a:t>ROAD TO 2032.</a:t>
            </a:r>
            <a:endParaRPr lang="en-US" sz="2800" dirty="0"/>
          </a:p>
        </p:txBody>
      </p:sp>
      <p:sp>
        <p:nvSpPr>
          <p:cNvPr id="3" name="Text 1"/>
          <p:cNvSpPr/>
          <p:nvPr/>
        </p:nvSpPr>
        <p:spPr>
          <a:xfrm>
            <a:off x="530352" y="1508760"/>
            <a:ext cx="5852160" cy="594360"/>
          </a:xfrm>
          <a:prstGeom prst="rect">
            <a:avLst/>
          </a:prstGeom>
          <a:noFill/>
          <a:ln/>
        </p:spPr>
        <p:txBody>
          <a:bodyPr wrap="square" lIns="0" tIns="0" rIns="0" bIns="0" rtlCol="0" anchor="t">
            <a:normAutofit/>
          </a:bodyPr>
          <a:lstStyle/>
          <a:p>
            <a:pPr algn="l" indent="0" marL="0">
              <a:buNone/>
            </a:pPr>
            <a:r>
              <a:rPr lang="en-US" sz="950" dirty="0">
                <a:solidFill>
                  <a:srgbClr val="6C6A65"/>
                </a:solidFill>
                <a:latin typeface="Arial" pitchFamily="34" charset="0"/>
                <a:ea typeface="Arial" pitchFamily="34" charset="-122"/>
                <a:cs typeface="Arial" pitchFamily="34" charset="-120"/>
              </a:rPr>
              <a:t>Le passage Élite ouvre le chapitre qui compte le plus : transformer les résultats internationaux en une trajectoire olympique.</a:t>
            </a:r>
            <a:endParaRPr lang="en-US" sz="950" dirty="0"/>
          </a:p>
        </p:txBody>
      </p:sp>
      <p:sp>
        <p:nvSpPr>
          <p:cNvPr id="4" name="Shape 2"/>
          <p:cNvSpPr/>
          <p:nvPr/>
        </p:nvSpPr>
        <p:spPr>
          <a:xfrm>
            <a:off x="685800" y="3017520"/>
            <a:ext cx="9144000" cy="0"/>
          </a:xfrm>
          <a:prstGeom prst="line">
            <a:avLst/>
          </a:prstGeom>
          <a:noFill/>
          <a:ln w="6985">
            <a:solidFill>
              <a:srgbClr val="C9C5BB"/>
            </a:solidFill>
            <a:prstDash val="solid"/>
          </a:ln>
        </p:spPr>
        <p:txBody>
          <a:bodyPr/>
          <a:p/>
        </p:txBody>
      </p:sp>
      <p:sp>
        <p:nvSpPr>
          <p:cNvPr id="5" name="Shape 3"/>
          <p:cNvSpPr/>
          <p:nvPr/>
        </p:nvSpPr>
        <p:spPr>
          <a:xfrm>
            <a:off x="685800" y="2926080"/>
            <a:ext cx="164592" cy="164592"/>
          </a:xfrm>
          <a:prstGeom prst="ellipse">
            <a:avLst/>
          </a:prstGeom>
          <a:solidFill>
            <a:srgbClr val="111111"/>
          </a:solidFill>
          <a:ln w="12700">
            <a:solidFill>
              <a:srgbClr val="111111"/>
            </a:solidFill>
            <a:prstDash val="solid"/>
          </a:ln>
        </p:spPr>
        <p:txBody>
          <a:bodyPr/>
          <a:p/>
        </p:txBody>
      </p:sp>
      <p:sp>
        <p:nvSpPr>
          <p:cNvPr id="6" name="Text 4"/>
          <p:cNvSpPr/>
          <p:nvPr/>
        </p:nvSpPr>
        <p:spPr>
          <a:xfrm>
            <a:off x="685800" y="3401568"/>
            <a:ext cx="1097280" cy="320040"/>
          </a:xfrm>
          <a:prstGeom prst="rect">
            <a:avLst/>
          </a:prstGeom>
          <a:noFill/>
          <a:ln/>
        </p:spPr>
        <p:txBody>
          <a:bodyPr wrap="square" lIns="0" tIns="0" rIns="0" bIns="0" rtlCol="0" anchor="t">
            <a:normAutofit/>
          </a:bodyPr>
          <a:lstStyle/>
          <a:p>
            <a:pPr algn="l" indent="0" marL="0">
              <a:buNone/>
            </a:pPr>
            <a:r>
              <a:rPr lang="en-US" sz="1900" b="1" dirty="0">
                <a:solidFill>
                  <a:srgbClr val="111111"/>
                </a:solidFill>
                <a:latin typeface="Arial" pitchFamily="34" charset="0"/>
                <a:ea typeface="Arial" pitchFamily="34" charset="-122"/>
                <a:cs typeface="Arial" pitchFamily="34" charset="-120"/>
              </a:rPr>
              <a:t>2027</a:t>
            </a:r>
            <a:endParaRPr lang="en-US" sz="1900" dirty="0"/>
          </a:p>
        </p:txBody>
      </p:sp>
      <p:sp>
        <p:nvSpPr>
          <p:cNvPr id="7" name="Text 5"/>
          <p:cNvSpPr/>
          <p:nvPr/>
        </p:nvSpPr>
        <p:spPr>
          <a:xfrm>
            <a:off x="685800" y="3858768"/>
            <a:ext cx="164592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ÉLITE</a:t>
            </a:r>
            <a:endParaRPr lang="en-US" sz="620" dirty="0"/>
          </a:p>
        </p:txBody>
      </p:sp>
      <p:sp>
        <p:nvSpPr>
          <p:cNvPr id="8" name="Text 6"/>
          <p:cNvSpPr/>
          <p:nvPr/>
        </p:nvSpPr>
        <p:spPr>
          <a:xfrm>
            <a:off x="685800" y="4315968"/>
            <a:ext cx="2286000" cy="914400"/>
          </a:xfrm>
          <a:prstGeom prst="rect">
            <a:avLst/>
          </a:prstGeom>
          <a:noFill/>
          <a:ln/>
        </p:spPr>
        <p:txBody>
          <a:bodyPr wrap="square" lIns="0" tIns="0" rIns="0" bIns="0" rtlCol="0" anchor="t">
            <a:normAutofit/>
          </a:bodyPr>
          <a:lstStyle/>
          <a:p>
            <a:pPr algn="l" indent="0" marL="0">
              <a:buNone/>
            </a:pPr>
            <a:r>
              <a:rPr lang="en-US" sz="900" dirty="0">
                <a:solidFill>
                  <a:srgbClr val="111111"/>
                </a:solidFill>
                <a:latin typeface="Arial" pitchFamily="34" charset="0"/>
                <a:ea typeface="Arial" pitchFamily="34" charset="-122"/>
                <a:cs typeface="Arial" pitchFamily="34" charset="-120"/>
              </a:rPr>
              <a:t>Podium en Coupe d’Europe</a:t>
            </a:r>
            <a:endParaRPr lang="en-US" sz="900" dirty="0"/>
          </a:p>
          <a:p>
            <a:pPr algn="l" indent="0" marL="0">
              <a:buNone/>
            </a:pPr>
            <a:r>
              <a:rPr lang="en-US" sz="900" dirty="0">
                <a:solidFill>
                  <a:srgbClr val="111111"/>
                </a:solidFill>
                <a:latin typeface="Arial" pitchFamily="34" charset="0"/>
                <a:ea typeface="Arial" pitchFamily="34" charset="-122"/>
                <a:cs typeface="Arial" pitchFamily="34" charset="-120"/>
              </a:rPr>
              <a:t>Qualification et finale au Mondial</a:t>
            </a:r>
            <a:endParaRPr lang="en-US" sz="900" dirty="0"/>
          </a:p>
        </p:txBody>
      </p:sp>
      <p:sp>
        <p:nvSpPr>
          <p:cNvPr id="9" name="Shape 7"/>
          <p:cNvSpPr/>
          <p:nvPr/>
        </p:nvSpPr>
        <p:spPr>
          <a:xfrm>
            <a:off x="4160520" y="2926080"/>
            <a:ext cx="164592" cy="164592"/>
          </a:xfrm>
          <a:prstGeom prst="ellipse">
            <a:avLst/>
          </a:prstGeom>
          <a:solidFill>
            <a:srgbClr val="111111"/>
          </a:solidFill>
          <a:ln w="12700">
            <a:solidFill>
              <a:srgbClr val="111111"/>
            </a:solidFill>
            <a:prstDash val="solid"/>
          </a:ln>
        </p:spPr>
        <p:txBody>
          <a:bodyPr/>
          <a:p/>
        </p:txBody>
      </p:sp>
      <p:sp>
        <p:nvSpPr>
          <p:cNvPr id="10" name="Text 8"/>
          <p:cNvSpPr/>
          <p:nvPr/>
        </p:nvSpPr>
        <p:spPr>
          <a:xfrm>
            <a:off x="4160520" y="3401568"/>
            <a:ext cx="1097280" cy="320040"/>
          </a:xfrm>
          <a:prstGeom prst="rect">
            <a:avLst/>
          </a:prstGeom>
          <a:noFill/>
          <a:ln/>
        </p:spPr>
        <p:txBody>
          <a:bodyPr wrap="square" lIns="0" tIns="0" rIns="0" bIns="0" rtlCol="0" anchor="t">
            <a:normAutofit/>
          </a:bodyPr>
          <a:lstStyle/>
          <a:p>
            <a:pPr algn="l" indent="0" marL="0">
              <a:buNone/>
            </a:pPr>
            <a:r>
              <a:rPr lang="en-US" sz="1900" b="1" dirty="0">
                <a:solidFill>
                  <a:srgbClr val="111111"/>
                </a:solidFill>
                <a:latin typeface="Arial" pitchFamily="34" charset="0"/>
                <a:ea typeface="Arial" pitchFamily="34" charset="-122"/>
                <a:cs typeface="Arial" pitchFamily="34" charset="-120"/>
              </a:rPr>
              <a:t>2028</a:t>
            </a:r>
            <a:endParaRPr lang="en-US" sz="1900" dirty="0"/>
          </a:p>
        </p:txBody>
      </p:sp>
      <p:sp>
        <p:nvSpPr>
          <p:cNvPr id="11" name="Text 9"/>
          <p:cNvSpPr/>
          <p:nvPr/>
        </p:nvSpPr>
        <p:spPr>
          <a:xfrm>
            <a:off x="4160520" y="3858768"/>
            <a:ext cx="164592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LOS ANGELES</a:t>
            </a:r>
            <a:endParaRPr lang="en-US" sz="620" dirty="0"/>
          </a:p>
        </p:txBody>
      </p:sp>
      <p:sp>
        <p:nvSpPr>
          <p:cNvPr id="12" name="Text 10"/>
          <p:cNvSpPr/>
          <p:nvPr/>
        </p:nvSpPr>
        <p:spPr>
          <a:xfrm>
            <a:off x="4160520" y="4315968"/>
            <a:ext cx="2286000" cy="914400"/>
          </a:xfrm>
          <a:prstGeom prst="rect">
            <a:avLst/>
          </a:prstGeom>
          <a:noFill/>
          <a:ln/>
        </p:spPr>
        <p:txBody>
          <a:bodyPr wrap="square" lIns="0" tIns="0" rIns="0" bIns="0" rtlCol="0" anchor="t">
            <a:normAutofit/>
          </a:bodyPr>
          <a:lstStyle/>
          <a:p>
            <a:pPr algn="l" indent="0" marL="0">
              <a:buNone/>
            </a:pPr>
            <a:r>
              <a:rPr lang="en-US" sz="900" dirty="0">
                <a:solidFill>
                  <a:srgbClr val="111111"/>
                </a:solidFill>
                <a:latin typeface="Arial" pitchFamily="34" charset="0"/>
                <a:ea typeface="Arial" pitchFamily="34" charset="-122"/>
                <a:cs typeface="Arial" pitchFamily="34" charset="-120"/>
              </a:rPr>
              <a:t>Être dans la course à la</a:t>
            </a:r>
            <a:endParaRPr lang="en-US" sz="900" dirty="0"/>
          </a:p>
          <a:p>
            <a:pPr algn="l" indent="0" marL="0">
              <a:buNone/>
            </a:pPr>
            <a:r>
              <a:rPr lang="en-US" sz="900" dirty="0">
                <a:solidFill>
                  <a:srgbClr val="111111"/>
                </a:solidFill>
                <a:latin typeface="Arial" pitchFamily="34" charset="0"/>
                <a:ea typeface="Arial" pitchFamily="34" charset="-122"/>
                <a:cs typeface="Arial" pitchFamily="34" charset="-120"/>
              </a:rPr>
              <a:t>qualification olympique</a:t>
            </a:r>
            <a:endParaRPr lang="en-US" sz="900" dirty="0"/>
          </a:p>
        </p:txBody>
      </p:sp>
      <p:sp>
        <p:nvSpPr>
          <p:cNvPr id="13" name="Shape 11"/>
          <p:cNvSpPr/>
          <p:nvPr/>
        </p:nvSpPr>
        <p:spPr>
          <a:xfrm>
            <a:off x="7635240" y="2926080"/>
            <a:ext cx="164592" cy="164592"/>
          </a:xfrm>
          <a:prstGeom prst="ellipse">
            <a:avLst/>
          </a:prstGeom>
          <a:solidFill>
            <a:srgbClr val="111111"/>
          </a:solidFill>
          <a:ln w="12700">
            <a:solidFill>
              <a:srgbClr val="111111"/>
            </a:solidFill>
            <a:prstDash val="solid"/>
          </a:ln>
        </p:spPr>
        <p:txBody>
          <a:bodyPr/>
          <a:p/>
        </p:txBody>
      </p:sp>
      <p:sp>
        <p:nvSpPr>
          <p:cNvPr id="14" name="Text 12"/>
          <p:cNvSpPr/>
          <p:nvPr/>
        </p:nvSpPr>
        <p:spPr>
          <a:xfrm>
            <a:off x="7635240" y="3401568"/>
            <a:ext cx="1097280" cy="320040"/>
          </a:xfrm>
          <a:prstGeom prst="rect">
            <a:avLst/>
          </a:prstGeom>
          <a:noFill/>
          <a:ln/>
        </p:spPr>
        <p:txBody>
          <a:bodyPr wrap="square" lIns="0" tIns="0" rIns="0" bIns="0" rtlCol="0" anchor="t">
            <a:normAutofit/>
          </a:bodyPr>
          <a:lstStyle/>
          <a:p>
            <a:pPr algn="l" indent="0" marL="0">
              <a:buNone/>
            </a:pPr>
            <a:r>
              <a:rPr lang="en-US" sz="1900" b="1" dirty="0">
                <a:solidFill>
                  <a:srgbClr val="111111"/>
                </a:solidFill>
                <a:latin typeface="Arial" pitchFamily="34" charset="0"/>
                <a:ea typeface="Arial" pitchFamily="34" charset="-122"/>
                <a:cs typeface="Arial" pitchFamily="34" charset="-120"/>
              </a:rPr>
              <a:t>2032</a:t>
            </a:r>
            <a:endParaRPr lang="en-US" sz="1900" dirty="0"/>
          </a:p>
        </p:txBody>
      </p:sp>
      <p:sp>
        <p:nvSpPr>
          <p:cNvPr id="15" name="Text 13"/>
          <p:cNvSpPr/>
          <p:nvPr/>
        </p:nvSpPr>
        <p:spPr>
          <a:xfrm>
            <a:off x="7635240" y="3858768"/>
            <a:ext cx="164592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BRISBANE</a:t>
            </a:r>
            <a:endParaRPr lang="en-US" sz="620" dirty="0"/>
          </a:p>
        </p:txBody>
      </p:sp>
      <p:sp>
        <p:nvSpPr>
          <p:cNvPr id="16" name="Text 14"/>
          <p:cNvSpPr/>
          <p:nvPr/>
        </p:nvSpPr>
        <p:spPr>
          <a:xfrm>
            <a:off x="7635240" y="4315968"/>
            <a:ext cx="2286000" cy="914400"/>
          </a:xfrm>
          <a:prstGeom prst="rect">
            <a:avLst/>
          </a:prstGeom>
          <a:noFill/>
          <a:ln/>
        </p:spPr>
        <p:txBody>
          <a:bodyPr wrap="square" lIns="0" tIns="0" rIns="0" bIns="0" rtlCol="0" anchor="t">
            <a:normAutofit/>
          </a:bodyPr>
          <a:lstStyle/>
          <a:p>
            <a:pPr algn="l" indent="0" marL="0">
              <a:buNone/>
            </a:pPr>
            <a:r>
              <a:rPr lang="en-US" sz="900" dirty="0">
                <a:solidFill>
                  <a:srgbClr val="111111"/>
                </a:solidFill>
                <a:latin typeface="Arial" pitchFamily="34" charset="0"/>
                <a:ea typeface="Arial" pitchFamily="34" charset="-122"/>
                <a:cs typeface="Arial" pitchFamily="34" charset="-120"/>
              </a:rPr>
              <a:t>Arriver au meilleur niveau</a:t>
            </a:r>
            <a:endParaRPr lang="en-US" sz="900" dirty="0"/>
          </a:p>
          <a:p>
            <a:pPr algn="l" indent="0" marL="0">
              <a:buNone/>
            </a:pPr>
            <a:r>
              <a:rPr lang="en-US" sz="900" dirty="0">
                <a:solidFill>
                  <a:srgbClr val="111111"/>
                </a:solidFill>
                <a:latin typeface="Arial" pitchFamily="34" charset="0"/>
                <a:ea typeface="Arial" pitchFamily="34" charset="-122"/>
                <a:cs typeface="Arial" pitchFamily="34" charset="-120"/>
              </a:rPr>
              <a:t>pour réaliser une performance</a:t>
            </a:r>
            <a:endParaRPr lang="en-US" sz="900" dirty="0"/>
          </a:p>
        </p:txBody>
      </p:sp>
      <p:sp>
        <p:nvSpPr>
          <p:cNvPr id="17" name="Text 15"/>
          <p:cNvSpPr/>
          <p:nvPr/>
        </p:nvSpPr>
        <p:spPr>
          <a:xfrm>
            <a:off x="530352" y="6080760"/>
            <a:ext cx="4572000" cy="411480"/>
          </a:xfrm>
          <a:prstGeom prst="rect">
            <a:avLst/>
          </a:prstGeom>
          <a:noFill/>
          <a:ln/>
        </p:spPr>
        <p:txBody>
          <a:bodyPr wrap="square" lIns="0" tIns="0" rIns="0" bIns="0" rtlCol="0" anchor="t">
            <a:normAutofit/>
          </a:bodyPr>
          <a:lstStyle/>
          <a:p>
            <a:pPr algn="l" indent="0" marL="0">
              <a:buNone/>
            </a:pPr>
            <a:r>
              <a:rPr lang="en-US" sz="2000" b="1" dirty="0">
                <a:solidFill>
                  <a:srgbClr val="111111"/>
                </a:solidFill>
                <a:latin typeface="Arial" pitchFamily="34" charset="0"/>
                <a:ea typeface="Arial" pitchFamily="34" charset="-122"/>
                <a:cs typeface="Arial" pitchFamily="34" charset="-120"/>
              </a:rPr>
              <a:t>MARQUER LE BMX.</a:t>
            </a:r>
            <a:endParaRPr lang="en-US" sz="2000" dirty="0"/>
          </a:p>
        </p:txBody>
      </p:sp>
      <p:sp>
        <p:nvSpPr>
          <p:cNvPr id="18" name="Text 16"/>
          <p:cNvSpPr/>
          <p:nvPr/>
        </p:nvSpPr>
        <p:spPr>
          <a:xfrm>
            <a:off x="530352" y="6565392"/>
            <a:ext cx="5303520" cy="411480"/>
          </a:xfrm>
          <a:prstGeom prst="rect">
            <a:avLst/>
          </a:prstGeom>
          <a:noFill/>
          <a:ln/>
        </p:spPr>
        <p:txBody>
          <a:bodyPr wrap="square" lIns="0" tIns="0" rIns="0" bIns="0" rtlCol="0" anchor="t">
            <a:normAutofit/>
          </a:bodyPr>
          <a:lstStyle/>
          <a:p>
            <a:pPr algn="l" indent="0" marL="0">
              <a:buNone/>
            </a:pPr>
            <a:r>
              <a:rPr lang="en-US" sz="880" dirty="0">
                <a:solidFill>
                  <a:srgbClr val="6C6A65"/>
                </a:solidFill>
                <a:latin typeface="Arial" pitchFamily="34" charset="0"/>
                <a:ea typeface="Arial" pitchFamily="34" charset="-122"/>
                <a:cs typeface="Arial" pitchFamily="34" charset="-120"/>
              </a:rPr>
              <a:t>Au-delà d’une sélection ou d’un résultat, c’est l’objectif qui guide le projet sur le long terme.</a:t>
            </a:r>
            <a:endParaRPr lang="en-US" sz="880" dirty="0"/>
          </a:p>
        </p:txBody>
      </p:sp>
      <p:sp>
        <p:nvSpPr>
          <p:cNvPr id="19" name="Text 17"/>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10 / 18</a:t>
            </a:r>
            <a:endParaRPr lang="en-US" sz="5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pic>
        <p:nvPicPr>
          <p:cNvPr id="2" name="Picture 1" descr="Capture d’écran 2026-08-31 à 18.31.22.png"/>
          <p:cNvPicPr>
            <a:picLocks noChangeAspect="1"/>
          </p:cNvPicPr>
          <p:nvPr/>
        </p:nvPicPr>
        <p:blipFill>
          <a:blip r:embed="rId4"/>
          <a:srcRect l="247" r="247"/>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02920" y="594360"/>
            <a:ext cx="4206240" cy="914400"/>
          </a:xfrm>
          <a:prstGeom prst="rect">
            <a:avLst/>
          </a:prstGeom>
          <a:noFill/>
          <a:ln/>
        </p:spPr>
        <p:txBody>
          <a:bodyPr wrap="square" lIns="0" tIns="0" rIns="0" bIns="0" rtlCol="0" anchor="t">
            <a:normAutofit/>
          </a:bodyPr>
          <a:lstStyle/>
          <a:p>
            <a:pPr algn="l" indent="0" marL="0">
              <a:buNone/>
            </a:pPr>
            <a:r>
              <a:rPr lang="en-US" sz="2600" b="1" dirty="0">
                <a:solidFill>
                  <a:srgbClr val="111111"/>
                </a:solidFill>
                <a:latin typeface="Arial" pitchFamily="34" charset="0"/>
                <a:ea typeface="Arial" pitchFamily="34" charset="-122"/>
                <a:cs typeface="Arial" pitchFamily="34" charset="-120"/>
              </a:rPr>
              <a:t>UNE SAISON</a:t>
            </a:r>
            <a:endParaRPr lang="en-US" sz="2600" dirty="0"/>
          </a:p>
          <a:p>
            <a:pPr algn="l" indent="0" marL="0">
              <a:buNone/>
            </a:pPr>
            <a:r>
              <a:rPr lang="en-US" sz="2600" b="1" dirty="0">
                <a:solidFill>
                  <a:srgbClr val="111111"/>
                </a:solidFill>
                <a:latin typeface="Arial" pitchFamily="34" charset="0"/>
                <a:ea typeface="Arial" pitchFamily="34" charset="-122"/>
                <a:cs typeface="Arial" pitchFamily="34" charset="-120"/>
              </a:rPr>
              <a:t>À 50 000 €.</a:t>
            </a:r>
            <a:endParaRPr lang="en-US" sz="2600" dirty="0"/>
          </a:p>
        </p:txBody>
      </p:sp>
      <p:sp>
        <p:nvSpPr>
          <p:cNvPr id="3" name="Text 1"/>
          <p:cNvSpPr/>
          <p:nvPr/>
        </p:nvSpPr>
        <p:spPr>
          <a:xfrm>
            <a:off x="530352" y="1828800"/>
            <a:ext cx="3931920" cy="1005840"/>
          </a:xfrm>
          <a:prstGeom prst="rect">
            <a:avLst/>
          </a:prstGeom>
          <a:noFill/>
          <a:ln/>
        </p:spPr>
        <p:txBody>
          <a:bodyPr wrap="square" lIns="0" tIns="0" rIns="0" bIns="0" rtlCol="0" anchor="t">
            <a:normAutofit/>
          </a:bodyPr>
          <a:lstStyle/>
          <a:p>
            <a:pPr algn="l" indent="0" marL="0">
              <a:buNone/>
            </a:pPr>
            <a:r>
              <a:rPr lang="en-US" sz="920" dirty="0">
                <a:solidFill>
                  <a:srgbClr val="111111"/>
                </a:solidFill>
                <a:latin typeface="Arial" pitchFamily="34" charset="0"/>
                <a:ea typeface="Arial" pitchFamily="34" charset="-122"/>
                <a:cs typeface="Arial" pitchFamily="34" charset="-120"/>
              </a:rPr>
              <a:t>Le très haut niveau a un coût. Derrière chaque week-end de course se trouvent des mois d’entraînement, du matériel spécifique et des déplacements internationaux de plusieurs jours.</a:t>
            </a:r>
            <a:endParaRPr lang="en-US" sz="920" dirty="0"/>
          </a:p>
        </p:txBody>
      </p:sp>
      <p:sp>
        <p:nvSpPr>
          <p:cNvPr id="4" name="Text 2"/>
          <p:cNvSpPr/>
          <p:nvPr/>
        </p:nvSpPr>
        <p:spPr>
          <a:xfrm>
            <a:off x="530352" y="3246120"/>
            <a:ext cx="4114800" cy="640080"/>
          </a:xfrm>
          <a:prstGeom prst="rect">
            <a:avLst/>
          </a:prstGeom>
          <a:noFill/>
          <a:ln/>
        </p:spPr>
        <p:txBody>
          <a:bodyPr wrap="square" lIns="0" tIns="0" rIns="0" bIns="0" rtlCol="0" anchor="t">
            <a:normAutofit/>
          </a:bodyPr>
          <a:lstStyle/>
          <a:p>
            <a:pPr algn="l" indent="0" marL="0">
              <a:buNone/>
            </a:pPr>
            <a:r>
              <a:rPr lang="en-US" sz="3500" b="1" dirty="0">
                <a:solidFill>
                  <a:srgbClr val="111111"/>
                </a:solidFill>
                <a:latin typeface="Arial" pitchFamily="34" charset="0"/>
                <a:ea typeface="Arial" pitchFamily="34" charset="-122"/>
                <a:cs typeface="Arial" pitchFamily="34" charset="-120"/>
              </a:rPr>
              <a:t>50 000 €</a:t>
            </a:r>
            <a:endParaRPr lang="en-US" sz="3500" dirty="0"/>
          </a:p>
        </p:txBody>
      </p:sp>
      <p:sp>
        <p:nvSpPr>
          <p:cNvPr id="5" name="Text 3"/>
          <p:cNvSpPr/>
          <p:nvPr/>
        </p:nvSpPr>
        <p:spPr>
          <a:xfrm>
            <a:off x="548640" y="4041648"/>
            <a:ext cx="22860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BUDGET ANNUEL ESTIMÉ</a:t>
            </a:r>
            <a:endParaRPr lang="en-US" sz="620" dirty="0"/>
          </a:p>
        </p:txBody>
      </p:sp>
      <p:sp>
        <p:nvSpPr>
          <p:cNvPr id="6" name="Text 4"/>
          <p:cNvSpPr/>
          <p:nvPr/>
        </p:nvSpPr>
        <p:spPr>
          <a:xfrm>
            <a:off x="5074920" y="914400"/>
            <a:ext cx="1508760" cy="365760"/>
          </a:xfrm>
          <a:prstGeom prst="rect">
            <a:avLst/>
          </a:prstGeom>
          <a:noFill/>
          <a:ln/>
        </p:spPr>
        <p:txBody>
          <a:bodyPr wrap="square" lIns="0" tIns="0" rIns="0" bIns="0" rtlCol="0" anchor="t">
            <a:normAutofit/>
          </a:bodyPr>
          <a:lstStyle/>
          <a:p>
            <a:pPr algn="l" indent="0" marL="0">
              <a:buNone/>
            </a:pPr>
            <a:r>
              <a:rPr lang="en-US" sz="1700" b="1" dirty="0">
                <a:solidFill>
                  <a:srgbClr val="111111"/>
                </a:solidFill>
                <a:latin typeface="Arial" pitchFamily="34" charset="0"/>
                <a:ea typeface="Arial" pitchFamily="34" charset="-122"/>
                <a:cs typeface="Arial" pitchFamily="34" charset="-120"/>
              </a:rPr>
              <a:t>25 000 €</a:t>
            </a:r>
            <a:endParaRPr lang="en-US" sz="1700" dirty="0"/>
          </a:p>
        </p:txBody>
      </p:sp>
      <p:sp>
        <p:nvSpPr>
          <p:cNvPr id="7" name="Text 5"/>
          <p:cNvSpPr/>
          <p:nvPr/>
        </p:nvSpPr>
        <p:spPr>
          <a:xfrm>
            <a:off x="6812280" y="941832"/>
            <a:ext cx="2926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DÉPLACEMENTS &amp; HÔTELS</a:t>
            </a:r>
            <a:endParaRPr lang="en-US" sz="620" dirty="0"/>
          </a:p>
        </p:txBody>
      </p:sp>
      <p:sp>
        <p:nvSpPr>
          <p:cNvPr id="8" name="Text 6"/>
          <p:cNvSpPr/>
          <p:nvPr/>
        </p:nvSpPr>
        <p:spPr>
          <a:xfrm>
            <a:off x="6812280" y="1353312"/>
            <a:ext cx="3154680" cy="731520"/>
          </a:xfrm>
          <a:prstGeom prst="rect">
            <a:avLst/>
          </a:prstGeom>
          <a:noFill/>
          <a:ln/>
        </p:spPr>
        <p:txBody>
          <a:bodyPr wrap="square" lIns="0" tIns="0" rIns="0" bIns="0" rtlCol="0" anchor="t">
            <a:normAutofit/>
          </a:bodyPr>
          <a:lstStyle/>
          <a:p>
            <a:pPr algn="l" indent="0" marL="0">
              <a:buNone/>
            </a:pPr>
            <a:r>
              <a:rPr lang="en-US" sz="840" dirty="0">
                <a:solidFill>
                  <a:srgbClr val="6C6A65"/>
                </a:solidFill>
                <a:latin typeface="Arial" pitchFamily="34" charset="0"/>
                <a:ea typeface="Arial" pitchFamily="34" charset="-122"/>
                <a:cs typeface="Arial" pitchFamily="34" charset="-120"/>
              </a:rPr>
              <a:t>Déplacements nationaux, européens et internationaux. Vols, route, hôtels et séjours anticipés avant les Coupes du Monde.</a:t>
            </a:r>
            <a:endParaRPr lang="en-US" sz="840" dirty="0"/>
          </a:p>
        </p:txBody>
      </p:sp>
      <p:sp>
        <p:nvSpPr>
          <p:cNvPr id="9" name="Shape 7"/>
          <p:cNvSpPr/>
          <p:nvPr/>
        </p:nvSpPr>
        <p:spPr>
          <a:xfrm>
            <a:off x="5074920" y="2267712"/>
            <a:ext cx="5074920" cy="0"/>
          </a:xfrm>
          <a:prstGeom prst="line">
            <a:avLst/>
          </a:prstGeom>
          <a:noFill/>
          <a:ln w="6985">
            <a:solidFill>
              <a:srgbClr val="C9C5BB"/>
            </a:solidFill>
            <a:prstDash val="solid"/>
          </a:ln>
        </p:spPr>
        <p:txBody>
          <a:bodyPr/>
          <a:p/>
        </p:txBody>
      </p:sp>
      <p:sp>
        <p:nvSpPr>
          <p:cNvPr id="10" name="Text 8"/>
          <p:cNvSpPr/>
          <p:nvPr/>
        </p:nvSpPr>
        <p:spPr>
          <a:xfrm>
            <a:off x="5074920" y="2743200"/>
            <a:ext cx="1508760" cy="365760"/>
          </a:xfrm>
          <a:prstGeom prst="rect">
            <a:avLst/>
          </a:prstGeom>
          <a:noFill/>
          <a:ln/>
        </p:spPr>
        <p:txBody>
          <a:bodyPr wrap="square" lIns="0" tIns="0" rIns="0" bIns="0" rtlCol="0" anchor="t">
            <a:normAutofit/>
          </a:bodyPr>
          <a:lstStyle/>
          <a:p>
            <a:pPr algn="l" indent="0" marL="0">
              <a:buNone/>
            </a:pPr>
            <a:r>
              <a:rPr lang="en-US" sz="1700" b="1" dirty="0">
                <a:solidFill>
                  <a:srgbClr val="111111"/>
                </a:solidFill>
                <a:latin typeface="Arial" pitchFamily="34" charset="0"/>
                <a:ea typeface="Arial" pitchFamily="34" charset="-122"/>
                <a:cs typeface="Arial" pitchFamily="34" charset="-120"/>
              </a:rPr>
              <a:t>15 000 €</a:t>
            </a:r>
            <a:endParaRPr lang="en-US" sz="1700" dirty="0"/>
          </a:p>
        </p:txBody>
      </p:sp>
      <p:sp>
        <p:nvSpPr>
          <p:cNvPr id="11" name="Text 9"/>
          <p:cNvSpPr/>
          <p:nvPr/>
        </p:nvSpPr>
        <p:spPr>
          <a:xfrm>
            <a:off x="6812280" y="2770632"/>
            <a:ext cx="2926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MATÉRIEL SPÉCIFIQUE</a:t>
            </a:r>
            <a:endParaRPr lang="en-US" sz="620" dirty="0"/>
          </a:p>
        </p:txBody>
      </p:sp>
      <p:sp>
        <p:nvSpPr>
          <p:cNvPr id="12" name="Text 10"/>
          <p:cNvSpPr/>
          <p:nvPr/>
        </p:nvSpPr>
        <p:spPr>
          <a:xfrm>
            <a:off x="6812280" y="3182112"/>
            <a:ext cx="3154680" cy="731520"/>
          </a:xfrm>
          <a:prstGeom prst="rect">
            <a:avLst/>
          </a:prstGeom>
          <a:noFill/>
          <a:ln/>
        </p:spPr>
        <p:txBody>
          <a:bodyPr wrap="square" lIns="0" tIns="0" rIns="0" bIns="0" rtlCol="0" anchor="t">
            <a:normAutofit/>
          </a:bodyPr>
          <a:lstStyle/>
          <a:p>
            <a:pPr algn="l" indent="0" marL="0">
              <a:buNone/>
            </a:pPr>
            <a:r>
              <a:rPr lang="en-US" sz="840" dirty="0">
                <a:solidFill>
                  <a:srgbClr val="6C6A65"/>
                </a:solidFill>
                <a:latin typeface="Arial" pitchFamily="34" charset="0"/>
                <a:ea typeface="Arial" pitchFamily="34" charset="-122"/>
                <a:cs typeface="Arial" pitchFamily="34" charset="-120"/>
              </a:rPr>
              <a:t>Vélos, pièces, pneus, consommables, équipements et renouvellement du matériel de compétition.</a:t>
            </a:r>
            <a:endParaRPr lang="en-US" sz="840" dirty="0"/>
          </a:p>
        </p:txBody>
      </p:sp>
      <p:sp>
        <p:nvSpPr>
          <p:cNvPr id="13" name="Shape 11"/>
          <p:cNvSpPr/>
          <p:nvPr/>
        </p:nvSpPr>
        <p:spPr>
          <a:xfrm>
            <a:off x="5074920" y="4096512"/>
            <a:ext cx="5074920" cy="0"/>
          </a:xfrm>
          <a:prstGeom prst="line">
            <a:avLst/>
          </a:prstGeom>
          <a:noFill/>
          <a:ln w="6985">
            <a:solidFill>
              <a:srgbClr val="C9C5BB"/>
            </a:solidFill>
            <a:prstDash val="solid"/>
          </a:ln>
        </p:spPr>
        <p:txBody>
          <a:bodyPr/>
          <a:p/>
        </p:txBody>
      </p:sp>
      <p:sp>
        <p:nvSpPr>
          <p:cNvPr id="14" name="Text 12"/>
          <p:cNvSpPr/>
          <p:nvPr/>
        </p:nvSpPr>
        <p:spPr>
          <a:xfrm>
            <a:off x="5074920" y="4572000"/>
            <a:ext cx="1508760" cy="365760"/>
          </a:xfrm>
          <a:prstGeom prst="rect">
            <a:avLst/>
          </a:prstGeom>
          <a:noFill/>
          <a:ln/>
        </p:spPr>
        <p:txBody>
          <a:bodyPr wrap="square" lIns="0" tIns="0" rIns="0" bIns="0" rtlCol="0" anchor="t">
            <a:normAutofit/>
          </a:bodyPr>
          <a:lstStyle/>
          <a:p>
            <a:pPr algn="l" indent="0" marL="0">
              <a:buNone/>
            </a:pPr>
            <a:r>
              <a:rPr lang="en-US" sz="1700" b="1" dirty="0">
                <a:solidFill>
                  <a:srgbClr val="111111"/>
                </a:solidFill>
                <a:latin typeface="Arial" pitchFamily="34" charset="0"/>
                <a:ea typeface="Arial" pitchFamily="34" charset="-122"/>
                <a:cs typeface="Arial" pitchFamily="34" charset="-120"/>
              </a:rPr>
              <a:t>10 000 €</a:t>
            </a:r>
            <a:endParaRPr lang="en-US" sz="1700" dirty="0"/>
          </a:p>
        </p:txBody>
      </p:sp>
      <p:sp>
        <p:nvSpPr>
          <p:cNvPr id="15" name="Text 13"/>
          <p:cNvSpPr/>
          <p:nvPr/>
        </p:nvSpPr>
        <p:spPr>
          <a:xfrm>
            <a:off x="6812280" y="4599432"/>
            <a:ext cx="29260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ENTRAÎNEMENT &amp; PERFORMANCE</a:t>
            </a:r>
            <a:endParaRPr lang="en-US" sz="620" dirty="0"/>
          </a:p>
        </p:txBody>
      </p:sp>
      <p:sp>
        <p:nvSpPr>
          <p:cNvPr id="16" name="Text 14"/>
          <p:cNvSpPr/>
          <p:nvPr/>
        </p:nvSpPr>
        <p:spPr>
          <a:xfrm>
            <a:off x="6812280" y="5010912"/>
            <a:ext cx="3154680" cy="731520"/>
          </a:xfrm>
          <a:prstGeom prst="rect">
            <a:avLst/>
          </a:prstGeom>
          <a:noFill/>
          <a:ln/>
        </p:spPr>
        <p:txBody>
          <a:bodyPr wrap="square" lIns="0" tIns="0" rIns="0" bIns="0" rtlCol="0" anchor="t">
            <a:normAutofit/>
          </a:bodyPr>
          <a:lstStyle/>
          <a:p>
            <a:pPr algn="l" indent="0" marL="0">
              <a:buNone/>
            </a:pPr>
            <a:r>
              <a:rPr lang="en-US" sz="840" dirty="0">
                <a:solidFill>
                  <a:srgbClr val="6C6A65"/>
                </a:solidFill>
                <a:latin typeface="Arial" pitchFamily="34" charset="0"/>
                <a:ea typeface="Arial" pitchFamily="34" charset="-122"/>
                <a:cs typeface="Arial" pitchFamily="34" charset="-120"/>
              </a:rPr>
              <a:t>Coaching, programmation, nutrition, CrossFit, accès aux pistes et trajets liés à l’entraînement.</a:t>
            </a:r>
            <a:endParaRPr lang="en-US" sz="840" dirty="0"/>
          </a:p>
        </p:txBody>
      </p:sp>
      <p:sp>
        <p:nvSpPr>
          <p:cNvPr id="17" name="Shape 15"/>
          <p:cNvSpPr/>
          <p:nvPr/>
        </p:nvSpPr>
        <p:spPr>
          <a:xfrm>
            <a:off x="5074920" y="5925312"/>
            <a:ext cx="5074920" cy="0"/>
          </a:xfrm>
          <a:prstGeom prst="line">
            <a:avLst/>
          </a:prstGeom>
          <a:noFill/>
          <a:ln w="6985">
            <a:solidFill>
              <a:srgbClr val="C9C5BB"/>
            </a:solidFill>
            <a:prstDash val="solid"/>
          </a:ln>
        </p:spPr>
        <p:txBody>
          <a:bodyPr/>
          <a:p/>
        </p:txBody>
      </p:sp>
      <p:sp>
        <p:nvSpPr>
          <p:cNvPr id="18" name="Text 16"/>
          <p:cNvSpPr/>
          <p:nvPr/>
        </p:nvSpPr>
        <p:spPr>
          <a:xfrm>
            <a:off x="5074920" y="6492240"/>
            <a:ext cx="4846320" cy="502920"/>
          </a:xfrm>
          <a:prstGeom prst="rect">
            <a:avLst/>
          </a:prstGeom>
          <a:noFill/>
          <a:ln/>
        </p:spPr>
        <p:txBody>
          <a:bodyPr wrap="square" lIns="0" tIns="0" rIns="0" bIns="0" rtlCol="0" anchor="t">
            <a:normAutofit/>
          </a:bodyPr>
          <a:lstStyle/>
          <a:p>
            <a:pPr algn="l" indent="0" marL="0">
              <a:buNone/>
            </a:pPr>
            <a:r>
              <a:rPr lang="en-US" sz="840" dirty="0">
                <a:solidFill>
                  <a:srgbClr val="6C6A65"/>
                </a:solidFill>
                <a:latin typeface="Arial" pitchFamily="34" charset="0"/>
                <a:ea typeface="Arial" pitchFamily="34" charset="-122"/>
                <a:cs typeface="Arial" pitchFamily="34" charset="-120"/>
              </a:rPr>
              <a:t>Ce budget est une estimation globale : il évolue selon le calendrier, les destinations et les besoins sportifs de la saison.</a:t>
            </a:r>
            <a:endParaRPr lang="en-US" sz="840" dirty="0"/>
          </a:p>
        </p:txBody>
      </p:sp>
      <p:sp>
        <p:nvSpPr>
          <p:cNvPr id="19" name="Text 17"/>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12 / 18</a:t>
            </a:r>
            <a:endParaRPr lang="en-US" sz="5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4"/>
          <a:srcRect l="18230" r="18230"/>
          <a:stretch>
            <a:fillRect/>
          </a:stretch>
        </p:blipFill>
        <p:spPr>
          <a:xfrm>
            <a:off x="0" y="0"/>
            <a:ext cx="6537960" cy="6858000"/>
          </a:xfrm>
          <a:prstGeom prst="rect">
            <a:avLst/>
          </a:prstGeom>
        </p:spPr>
      </p:pic>
      <p:sp>
        <p:nvSpPr>
          <p:cNvPr id="3" name="Rectangle 2"/>
          <p:cNvSpPr/>
          <p:nvPr/>
        </p:nvSpPr>
        <p:spPr>
          <a:xfrm>
            <a:off x="6537960" y="0"/>
            <a:ext cx="5650992" cy="6858000"/>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59168" y="621792"/>
            <a:ext cx="4160520" cy="960120"/>
          </a:xfrm>
          <a:prstGeom prst="rect">
            <a:avLst/>
          </a:prstGeom>
          <a:noFill/>
        </p:spPr>
        <p:txBody>
          <a:bodyPr wrap="square" lIns="0" rIns="0" tIns="0" bIns="0">
            <a:spAutoFit/>
          </a:bodyPr>
          <a:lstStyle/>
          <a:p>
            <a:pPr algn="l"/>
            <a:r>
              <a:rPr sz="1850" b="1">
                <a:solidFill>
                  <a:srgbClr val="FAF8F3"/>
                </a:solidFill>
                <a:latin typeface="Arial"/>
              </a:rPr>
              <a:t>CONSTRUIRE ENSEMBLE.</a:t>
            </a:r>
          </a:p>
        </p:txBody>
      </p:sp>
      <p:sp>
        <p:nvSpPr>
          <p:cNvPr id="5" name="Rectangle 4"/>
          <p:cNvSpPr/>
          <p:nvPr/>
        </p:nvSpPr>
        <p:spPr>
          <a:xfrm>
            <a:off x="7059168" y="1965960"/>
            <a:ext cx="384048" cy="2286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59168" y="2286000"/>
            <a:ext cx="4315968" cy="2788920"/>
          </a:xfrm>
          <a:prstGeom prst="rect">
            <a:avLst/>
          </a:prstGeom>
          <a:noFill/>
        </p:spPr>
        <p:txBody>
          <a:bodyPr wrap="square" lIns="0" rIns="0" tIns="0" bIns="0">
            <a:spAutoFit/>
          </a:bodyPr>
          <a:lstStyle/>
          <a:p>
            <a:pPr algn="l">
              <a:spcAft>
                <a:spcPts val="800"/>
              </a:spcAft>
            </a:pPr>
            <a:r>
              <a:rPr sz="890">
                <a:solidFill>
                  <a:srgbClr val="FAF8F3"/>
                </a:solidFill>
                <a:latin typeface="Arial"/>
              </a:rPr>
              <a:t>Derrière ma saison et mes objectifs sportifs, il y a un projet qui ne peut pas se construire seul. L’objectif de ce book est donc aussi de rencontrer des entreprises qui souhaitent prendre part à cette aventure.</a:t>
            </a:r>
          </a:p>
          <a:p>
            <a:pPr algn="l">
              <a:spcAft>
                <a:spcPts val="800"/>
              </a:spcAft>
            </a:pPr>
            <a:r>
              <a:rPr sz="890">
                <a:solidFill>
                  <a:srgbClr val="FAF8F3"/>
                </a:solidFill>
                <a:latin typeface="Arial"/>
              </a:rPr>
              <a:t>Chaque partenariat peut être différent : soutien financier, dons en nature, visibilité, communication, création de contenu ou actions au sein de votre entreprise. L’idée n’est pas simplement d’afficher votre logo, mais de construire une collaboration adaptée à vos besoins.</a:t>
            </a:r>
          </a:p>
        </p:txBody>
      </p:sp>
      <p:sp>
        <p:nvSpPr>
          <p:cNvPr id="7" name="TextBox 6"/>
          <p:cNvSpPr txBox="1"/>
          <p:nvPr/>
        </p:nvSpPr>
        <p:spPr>
          <a:xfrm>
            <a:off x="7059168" y="6172200"/>
            <a:ext cx="3383280" cy="128016"/>
          </a:xfrm>
          <a:prstGeom prst="rect">
            <a:avLst/>
          </a:prstGeom>
          <a:noFill/>
        </p:spPr>
        <p:txBody>
          <a:bodyPr wrap="square" lIns="0" rIns="0" tIns="0" bIns="0">
            <a:spAutoFit/>
          </a:bodyPr>
          <a:lstStyle/>
          <a:p>
            <a:pPr algn="l"/>
            <a:r>
              <a:rPr sz="640" b="1">
                <a:solidFill>
                  <a:srgbClr val="B9B4AC"/>
                </a:solidFill>
                <a:latin typeface="Arial"/>
              </a:rPr>
              <a:t>FRANCE • EUROPE • MONDE</a:t>
            </a:r>
          </a:p>
        </p:txBody>
      </p:sp>
      <p:sp>
        <p:nvSpPr>
          <p:cNvPr id="8" name="TextBox 7"/>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FAF8F3"/>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02920" y="594360"/>
            <a:ext cx="4846320" cy="914400"/>
          </a:xfrm>
          <a:prstGeom prst="rect">
            <a:avLst/>
          </a:prstGeom>
          <a:noFill/>
          <a:ln/>
        </p:spPr>
        <p:txBody>
          <a:bodyPr wrap="square" lIns="0" tIns="0" rIns="0" bIns="0" rtlCol="0" anchor="t">
            <a:normAutofit/>
          </a:bodyPr>
          <a:lstStyle/>
          <a:p>
            <a:pPr algn="l" indent="0" marL="0">
              <a:buNone/>
            </a:pPr>
            <a:r>
              <a:rPr lang="en-US" sz="2500" b="1" dirty="0">
                <a:solidFill>
                  <a:srgbClr val="111111"/>
                </a:solidFill>
                <a:latin typeface="Arial" pitchFamily="34" charset="0"/>
                <a:ea typeface="Arial" pitchFamily="34" charset="-122"/>
                <a:cs typeface="Arial" pitchFamily="34" charset="-120"/>
              </a:rPr>
              <a:t>DES NIVEAUX</a:t>
            </a:r>
            <a:endParaRPr lang="en-US" sz="2500" dirty="0"/>
          </a:p>
          <a:p>
            <a:pPr algn="l" indent="0" marL="0">
              <a:buNone/>
            </a:pPr>
            <a:r>
              <a:rPr lang="en-US" sz="2500" b="1" dirty="0">
                <a:solidFill>
                  <a:srgbClr val="111111"/>
                </a:solidFill>
                <a:latin typeface="Arial" pitchFamily="34" charset="0"/>
                <a:ea typeface="Arial" pitchFamily="34" charset="-122"/>
                <a:cs typeface="Arial" pitchFamily="34" charset="-120"/>
              </a:rPr>
              <a:t>D’ACCOMPAGNEMENT.</a:t>
            </a:r>
            <a:endParaRPr lang="en-US" sz="2500" dirty="0"/>
          </a:p>
        </p:txBody>
      </p:sp>
      <p:sp>
        <p:nvSpPr>
          <p:cNvPr id="3" name="Text 1"/>
          <p:cNvSpPr/>
          <p:nvPr/>
        </p:nvSpPr>
        <p:spPr>
          <a:xfrm>
            <a:off x="530352" y="1783080"/>
            <a:ext cx="4937760" cy="685800"/>
          </a:xfrm>
          <a:prstGeom prst="rect">
            <a:avLst/>
          </a:prstGeom>
          <a:noFill/>
          <a:ln/>
        </p:spPr>
        <p:txBody>
          <a:bodyPr wrap="square" lIns="0" tIns="0" rIns="0" bIns="0" rtlCol="0" anchor="t">
            <a:normAutofit/>
          </a:bodyPr>
          <a:lstStyle/>
          <a:p>
            <a:pPr algn="l" indent="0" marL="0">
              <a:buNone/>
            </a:pPr>
            <a:r>
              <a:rPr lang="en-US" sz="900" dirty="0">
                <a:solidFill>
                  <a:srgbClr val="6C6A65"/>
                </a:solidFill>
                <a:latin typeface="Arial" pitchFamily="34" charset="0"/>
                <a:ea typeface="Arial" pitchFamily="34" charset="-122"/>
                <a:cs typeface="Arial" pitchFamily="34" charset="-120"/>
              </a:rPr>
              <a:t>Une base simple pour permettre à chaque entreprise de trouver un niveau d’engagement cohérent. Les contreparties exactes seront construites avec le partenaire.</a:t>
            </a:r>
            <a:endParaRPr lang="en-US" sz="900" dirty="0"/>
          </a:p>
        </p:txBody>
      </p:sp>
      <p:sp>
        <p:nvSpPr>
          <p:cNvPr id="4" name="Shape 2"/>
          <p:cNvSpPr/>
          <p:nvPr/>
        </p:nvSpPr>
        <p:spPr>
          <a:xfrm>
            <a:off x="530352" y="2834640"/>
            <a:ext cx="2148840" cy="3200400"/>
          </a:xfrm>
          <a:prstGeom prst="rect">
            <a:avLst/>
          </a:prstGeom>
          <a:solidFill>
            <a:srgbClr val="FFFFFF"/>
          </a:solidFill>
          <a:ln w="7620">
            <a:solidFill>
              <a:srgbClr val="C9C5BB"/>
            </a:solidFill>
            <a:prstDash val="solid"/>
          </a:ln>
        </p:spPr>
        <p:txBody>
          <a:bodyPr/>
          <a:p/>
        </p:txBody>
      </p:sp>
      <p:sp>
        <p:nvSpPr>
          <p:cNvPr id="5" name="Text 3"/>
          <p:cNvSpPr/>
          <p:nvPr/>
        </p:nvSpPr>
        <p:spPr>
          <a:xfrm>
            <a:off x="713232" y="3063240"/>
            <a:ext cx="3657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01</a:t>
            </a:r>
            <a:endParaRPr lang="en-US" sz="620" dirty="0"/>
          </a:p>
        </p:txBody>
      </p:sp>
      <p:sp>
        <p:nvSpPr>
          <p:cNvPr id="6" name="Text 4"/>
          <p:cNvSpPr/>
          <p:nvPr/>
        </p:nvSpPr>
        <p:spPr>
          <a:xfrm>
            <a:off x="713232" y="3657600"/>
            <a:ext cx="1783080" cy="548640"/>
          </a:xfrm>
          <a:prstGeom prst="rect">
            <a:avLst/>
          </a:prstGeom>
          <a:noFill/>
          <a:ln/>
        </p:spPr>
        <p:txBody>
          <a:bodyPr wrap="square" lIns="0" tIns="0" rIns="0" bIns="0" rtlCol="0" anchor="t">
            <a:normAutofit/>
          </a:bodyPr>
          <a:lstStyle/>
          <a:p>
            <a:pPr algn="l" indent="0" marL="0">
              <a:buNone/>
            </a:pPr>
            <a:r>
              <a:rPr lang="en-US" sz="1200" b="1" dirty="0">
                <a:solidFill>
                  <a:srgbClr val="111111"/>
                </a:solidFill>
                <a:latin typeface="Arial" pitchFamily="34" charset="0"/>
                <a:ea typeface="Arial" pitchFamily="34" charset="-122"/>
                <a:cs typeface="Arial" pitchFamily="34" charset="-120"/>
              </a:rPr>
              <a:t>SOUTIEN</a:t>
            </a:r>
            <a:endParaRPr lang="en-US" sz="1200" dirty="0"/>
          </a:p>
        </p:txBody>
      </p:sp>
      <p:sp>
        <p:nvSpPr>
          <p:cNvPr id="7" name="Text 5"/>
          <p:cNvSpPr/>
          <p:nvPr/>
        </p:nvSpPr>
        <p:spPr>
          <a:xfrm>
            <a:off x="713232" y="4434840"/>
            <a:ext cx="1783080" cy="411480"/>
          </a:xfrm>
          <a:prstGeom prst="rect">
            <a:avLst/>
          </a:prstGeom>
          <a:noFill/>
          <a:ln/>
        </p:spPr>
        <p:txBody>
          <a:bodyPr wrap="square" lIns="0" tIns="0" rIns="0" bIns="0" rtlCol="0" anchor="t">
            <a:normAutofit/>
          </a:bodyPr>
          <a:lstStyle/>
          <a:p>
            <a:pPr algn="l" indent="0" marL="0">
              <a:buNone/>
            </a:pPr>
            <a:r>
              <a:rPr lang="en-US" sz="1800" b="1" dirty="0">
                <a:solidFill>
                  <a:srgbClr val="111111"/>
                </a:solidFill>
                <a:latin typeface="Arial" pitchFamily="34" charset="0"/>
                <a:ea typeface="Arial" pitchFamily="34" charset="-122"/>
                <a:cs typeface="Arial" pitchFamily="34" charset="-120"/>
              </a:rPr>
              <a:t>500 €</a:t>
            </a:r>
            <a:endParaRPr lang="en-US" sz="1800" dirty="0"/>
          </a:p>
        </p:txBody>
      </p:sp>
      <p:sp>
        <p:nvSpPr>
          <p:cNvPr id="8" name="Text 6"/>
          <p:cNvSpPr/>
          <p:nvPr/>
        </p:nvSpPr>
        <p:spPr>
          <a:xfrm>
            <a:off x="713232" y="5166360"/>
            <a:ext cx="1737360" cy="594360"/>
          </a:xfrm>
          <a:prstGeom prst="rect">
            <a:avLst/>
          </a:prstGeom>
          <a:noFill/>
          <a:ln/>
        </p:spPr>
        <p:txBody>
          <a:bodyPr wrap="square" lIns="0" tIns="0" rIns="0" bIns="0" rtlCol="0" anchor="t">
            <a:normAutofit/>
          </a:bodyPr>
          <a:lstStyle/>
          <a:p>
            <a:pPr algn="l" indent="0" marL="0">
              <a:buNone/>
            </a:pPr>
            <a:r>
              <a:rPr lang="en-US" sz="810" dirty="0">
                <a:solidFill>
                  <a:srgbClr val="6C6A65"/>
                </a:solidFill>
                <a:latin typeface="Arial" pitchFamily="34" charset="0"/>
                <a:ea typeface="Arial" pitchFamily="34" charset="-122"/>
                <a:cs typeface="Arial" pitchFamily="34" charset="-120"/>
              </a:rPr>
              <a:t>Présence partenaire</a:t>
            </a:r>
            <a:endParaRPr lang="en-US" sz="810" dirty="0"/>
          </a:p>
          <a:p>
            <a:pPr algn="l" indent="0" marL="0">
              <a:buNone/>
            </a:pPr>
            <a:r>
              <a:rPr lang="en-US" sz="810" dirty="0">
                <a:solidFill>
                  <a:srgbClr val="6C6A65"/>
                </a:solidFill>
                <a:latin typeface="Arial" pitchFamily="34" charset="0"/>
                <a:ea typeface="Arial" pitchFamily="34" charset="-122"/>
                <a:cs typeface="Arial" pitchFamily="34" charset="-120"/>
              </a:rPr>
              <a:t>Communication digitale</a:t>
            </a:r>
            <a:endParaRPr lang="en-US" sz="810" dirty="0"/>
          </a:p>
        </p:txBody>
      </p:sp>
      <p:sp>
        <p:nvSpPr>
          <p:cNvPr id="9" name="Shape 7"/>
          <p:cNvSpPr/>
          <p:nvPr/>
        </p:nvSpPr>
        <p:spPr>
          <a:xfrm>
            <a:off x="3017520" y="2834640"/>
            <a:ext cx="2148840" cy="3200400"/>
          </a:xfrm>
          <a:prstGeom prst="rect">
            <a:avLst/>
          </a:prstGeom>
          <a:solidFill>
            <a:srgbClr val="FFFFFF"/>
          </a:solidFill>
          <a:ln w="7620">
            <a:solidFill>
              <a:srgbClr val="C9C5BB"/>
            </a:solidFill>
            <a:prstDash val="solid"/>
          </a:ln>
        </p:spPr>
        <p:txBody>
          <a:bodyPr/>
          <a:p/>
        </p:txBody>
      </p:sp>
      <p:sp>
        <p:nvSpPr>
          <p:cNvPr id="10" name="Text 8"/>
          <p:cNvSpPr/>
          <p:nvPr/>
        </p:nvSpPr>
        <p:spPr>
          <a:xfrm>
            <a:off x="3200400" y="3063240"/>
            <a:ext cx="3657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02</a:t>
            </a:r>
            <a:endParaRPr lang="en-US" sz="620" dirty="0"/>
          </a:p>
        </p:txBody>
      </p:sp>
      <p:sp>
        <p:nvSpPr>
          <p:cNvPr id="11" name="Text 9"/>
          <p:cNvSpPr/>
          <p:nvPr/>
        </p:nvSpPr>
        <p:spPr>
          <a:xfrm>
            <a:off x="3200400" y="3657600"/>
            <a:ext cx="1783080" cy="548640"/>
          </a:xfrm>
          <a:prstGeom prst="rect">
            <a:avLst/>
          </a:prstGeom>
          <a:noFill/>
          <a:ln/>
        </p:spPr>
        <p:txBody>
          <a:bodyPr wrap="square" lIns="0" tIns="0" rIns="0" bIns="0" rtlCol="0" anchor="t">
            <a:normAutofit/>
          </a:bodyPr>
          <a:lstStyle/>
          <a:p>
            <a:pPr algn="l" indent="0" marL="0">
              <a:buNone/>
            </a:pPr>
            <a:r>
              <a:rPr lang="en-US" sz="1200" b="1" dirty="0">
                <a:solidFill>
                  <a:srgbClr val="111111"/>
                </a:solidFill>
                <a:latin typeface="Arial" pitchFamily="34" charset="0"/>
                <a:ea typeface="Arial" pitchFamily="34" charset="-122"/>
                <a:cs typeface="Arial" pitchFamily="34" charset="-120"/>
              </a:rPr>
              <a:t>PARTENAIRE</a:t>
            </a:r>
            <a:endParaRPr lang="en-US" sz="1200" dirty="0"/>
          </a:p>
        </p:txBody>
      </p:sp>
      <p:sp>
        <p:nvSpPr>
          <p:cNvPr id="12" name="Text 10"/>
          <p:cNvSpPr/>
          <p:nvPr/>
        </p:nvSpPr>
        <p:spPr>
          <a:xfrm>
            <a:off x="3200400" y="4434840"/>
            <a:ext cx="1783080" cy="411480"/>
          </a:xfrm>
          <a:prstGeom prst="rect">
            <a:avLst/>
          </a:prstGeom>
          <a:noFill/>
          <a:ln/>
        </p:spPr>
        <p:txBody>
          <a:bodyPr wrap="square" lIns="0" tIns="0" rIns="0" bIns="0" rtlCol="0" anchor="t">
            <a:normAutofit/>
          </a:bodyPr>
          <a:lstStyle/>
          <a:p>
            <a:pPr algn="l" indent="0" marL="0">
              <a:buNone/>
            </a:pPr>
            <a:r>
              <a:rPr sz="1600" b="1">
                <a:solidFill>
                  <a:srgbClr val="141412"/>
                </a:solidFill>
                <a:latin typeface="Arial"/>
              </a:rPr>
              <a:t>1 000 €</a:t>
            </a:r>
            <a:endParaRPr lang="en-US" sz="1800" dirty="0"/>
          </a:p>
        </p:txBody>
      </p:sp>
      <p:sp>
        <p:nvSpPr>
          <p:cNvPr id="13" name="Text 11"/>
          <p:cNvSpPr/>
          <p:nvPr/>
        </p:nvSpPr>
        <p:spPr>
          <a:xfrm>
            <a:off x="3200400" y="5166360"/>
            <a:ext cx="1737360" cy="594360"/>
          </a:xfrm>
          <a:prstGeom prst="rect">
            <a:avLst/>
          </a:prstGeom>
          <a:noFill/>
          <a:ln/>
        </p:spPr>
        <p:txBody>
          <a:bodyPr wrap="square" lIns="0" tIns="0" rIns="0" bIns="0" rtlCol="0" anchor="t">
            <a:normAutofit/>
          </a:bodyPr>
          <a:lstStyle/>
          <a:p>
            <a:pPr algn="l" indent="0" marL="0">
              <a:buNone/>
            </a:pPr>
            <a:r>
              <a:rPr lang="en-US" sz="810" dirty="0">
                <a:solidFill>
                  <a:srgbClr val="6C6A65"/>
                </a:solidFill>
                <a:latin typeface="Arial" pitchFamily="34" charset="0"/>
                <a:ea typeface="Arial" pitchFamily="34" charset="-122"/>
                <a:cs typeface="Arial" pitchFamily="34" charset="-120"/>
              </a:rPr>
              <a:t>Visibilité renforcée</a:t>
            </a:r>
            <a:endParaRPr lang="en-US" sz="810" dirty="0"/>
          </a:p>
          <a:p>
            <a:pPr algn="l" indent="0" marL="0">
              <a:buNone/>
            </a:pPr>
            <a:r>
              <a:rPr lang="en-US" sz="810" dirty="0">
                <a:solidFill>
                  <a:srgbClr val="6C6A65"/>
                </a:solidFill>
                <a:latin typeface="Arial" pitchFamily="34" charset="0"/>
                <a:ea typeface="Arial" pitchFamily="34" charset="-122"/>
                <a:cs typeface="Arial" pitchFamily="34" charset="-120"/>
              </a:rPr>
              <a:t>Contenus &amp; actualités</a:t>
            </a:r>
            <a:endParaRPr lang="en-US" sz="810" dirty="0"/>
          </a:p>
        </p:txBody>
      </p:sp>
      <p:sp>
        <p:nvSpPr>
          <p:cNvPr id="14" name="Shape 12"/>
          <p:cNvSpPr/>
          <p:nvPr/>
        </p:nvSpPr>
        <p:spPr>
          <a:xfrm>
            <a:off x="5504688" y="2834640"/>
            <a:ext cx="2148840" cy="3200400"/>
          </a:xfrm>
          <a:prstGeom prst="rect">
            <a:avLst/>
          </a:prstGeom>
          <a:solidFill>
            <a:srgbClr val="FFFFFF"/>
          </a:solidFill>
          <a:ln w="7620">
            <a:solidFill>
              <a:srgbClr val="C9C5BB"/>
            </a:solidFill>
            <a:prstDash val="solid"/>
          </a:ln>
        </p:spPr>
        <p:txBody>
          <a:bodyPr/>
          <a:p/>
        </p:txBody>
      </p:sp>
      <p:sp>
        <p:nvSpPr>
          <p:cNvPr id="15" name="Text 13"/>
          <p:cNvSpPr/>
          <p:nvPr/>
        </p:nvSpPr>
        <p:spPr>
          <a:xfrm>
            <a:off x="5687568" y="3063240"/>
            <a:ext cx="3657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03</a:t>
            </a:r>
            <a:endParaRPr lang="en-US" sz="620" dirty="0"/>
          </a:p>
        </p:txBody>
      </p:sp>
      <p:sp>
        <p:nvSpPr>
          <p:cNvPr id="16" name="Text 14"/>
          <p:cNvSpPr/>
          <p:nvPr/>
        </p:nvSpPr>
        <p:spPr>
          <a:xfrm>
            <a:off x="5687568" y="3657600"/>
            <a:ext cx="1783080" cy="548640"/>
          </a:xfrm>
          <a:prstGeom prst="rect">
            <a:avLst/>
          </a:prstGeom>
          <a:noFill/>
          <a:ln/>
        </p:spPr>
        <p:txBody>
          <a:bodyPr wrap="square" lIns="0" tIns="0" rIns="0" bIns="0" rtlCol="0" anchor="t">
            <a:normAutofit/>
          </a:bodyPr>
          <a:lstStyle/>
          <a:p>
            <a:pPr algn="l" indent="0" marL="0">
              <a:buNone/>
            </a:pPr>
            <a:r>
              <a:rPr lang="en-US" sz="1200" b="1" dirty="0">
                <a:solidFill>
                  <a:srgbClr val="111111"/>
                </a:solidFill>
                <a:latin typeface="Arial" pitchFamily="34" charset="0"/>
                <a:ea typeface="Arial" pitchFamily="34" charset="-122"/>
                <a:cs typeface="Arial" pitchFamily="34" charset="-120"/>
              </a:rPr>
              <a:t>PERFORMANCE</a:t>
            </a:r>
            <a:endParaRPr lang="en-US" sz="1200" dirty="0"/>
          </a:p>
        </p:txBody>
      </p:sp>
      <p:sp>
        <p:nvSpPr>
          <p:cNvPr id="17" name="Text 15"/>
          <p:cNvSpPr/>
          <p:nvPr/>
        </p:nvSpPr>
        <p:spPr>
          <a:xfrm>
            <a:off x="5687568" y="4434840"/>
            <a:ext cx="1783080" cy="411480"/>
          </a:xfrm>
          <a:prstGeom prst="rect">
            <a:avLst/>
          </a:prstGeom>
          <a:noFill/>
          <a:ln/>
        </p:spPr>
        <p:txBody>
          <a:bodyPr wrap="square" lIns="0" tIns="0" rIns="0" bIns="0" rtlCol="0" anchor="t">
            <a:normAutofit/>
          </a:bodyPr>
          <a:lstStyle/>
          <a:p>
            <a:pPr algn="l" indent="0" marL="0">
              <a:buNone/>
            </a:pPr>
            <a:r>
              <a:rPr sz="1600" b="1">
                <a:solidFill>
                  <a:srgbClr val="141412"/>
                </a:solidFill>
                <a:latin typeface="Arial"/>
              </a:rPr>
              <a:t>2 500 €</a:t>
            </a:r>
            <a:endParaRPr lang="en-US" sz="1800" dirty="0"/>
          </a:p>
        </p:txBody>
      </p:sp>
      <p:sp>
        <p:nvSpPr>
          <p:cNvPr id="18" name="Text 16"/>
          <p:cNvSpPr/>
          <p:nvPr/>
        </p:nvSpPr>
        <p:spPr>
          <a:xfrm>
            <a:off x="5687568" y="5166360"/>
            <a:ext cx="1737360" cy="594360"/>
          </a:xfrm>
          <a:prstGeom prst="rect">
            <a:avLst/>
          </a:prstGeom>
          <a:noFill/>
          <a:ln/>
        </p:spPr>
        <p:txBody>
          <a:bodyPr wrap="square" lIns="0" tIns="0" rIns="0" bIns="0" rtlCol="0" anchor="t">
            <a:normAutofit/>
          </a:bodyPr>
          <a:lstStyle/>
          <a:p>
            <a:pPr algn="l" indent="0" marL="0">
              <a:buNone/>
            </a:pPr>
            <a:r>
              <a:rPr lang="en-US" sz="810" dirty="0">
                <a:solidFill>
                  <a:srgbClr val="6C6A65"/>
                </a:solidFill>
                <a:latin typeface="Arial" pitchFamily="34" charset="0"/>
                <a:ea typeface="Arial" pitchFamily="34" charset="-122"/>
                <a:cs typeface="Arial" pitchFamily="34" charset="-120"/>
              </a:rPr>
              <a:t>Activation dédiée</a:t>
            </a:r>
            <a:endParaRPr lang="en-US" sz="810" dirty="0"/>
          </a:p>
          <a:p>
            <a:pPr algn="l" indent="0" marL="0">
              <a:buNone/>
            </a:pPr>
            <a:r>
              <a:rPr lang="en-US" sz="810" dirty="0">
                <a:solidFill>
                  <a:srgbClr val="6C6A65"/>
                </a:solidFill>
                <a:latin typeface="Arial" pitchFamily="34" charset="0"/>
                <a:ea typeface="Arial" pitchFamily="34" charset="-122"/>
                <a:cs typeface="Arial" pitchFamily="34" charset="-120"/>
              </a:rPr>
              <a:t>Présence événementielle</a:t>
            </a:r>
            <a:endParaRPr lang="en-US" sz="810" dirty="0"/>
          </a:p>
        </p:txBody>
      </p:sp>
      <p:sp>
        <p:nvSpPr>
          <p:cNvPr id="19" name="Shape 17"/>
          <p:cNvSpPr/>
          <p:nvPr/>
        </p:nvSpPr>
        <p:spPr>
          <a:xfrm>
            <a:off x="7991856" y="2834640"/>
            <a:ext cx="2148840" cy="3200400"/>
          </a:xfrm>
          <a:prstGeom prst="rect">
            <a:avLst/>
          </a:prstGeom>
          <a:solidFill>
            <a:srgbClr val="111111"/>
          </a:solidFill>
          <a:ln w="7620">
            <a:solidFill>
              <a:srgbClr val="111111"/>
            </a:solidFill>
            <a:prstDash val="solid"/>
          </a:ln>
        </p:spPr>
        <p:txBody>
          <a:bodyPr/>
          <a:p/>
        </p:txBody>
      </p:sp>
      <p:sp>
        <p:nvSpPr>
          <p:cNvPr id="20" name="Text 18"/>
          <p:cNvSpPr/>
          <p:nvPr/>
        </p:nvSpPr>
        <p:spPr>
          <a:xfrm>
            <a:off x="8174736" y="3063240"/>
            <a:ext cx="3657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FFFFFF"/>
                </a:solidFill>
                <a:latin typeface="Arial" pitchFamily="34" charset="0"/>
                <a:ea typeface="Arial" pitchFamily="34" charset="-122"/>
                <a:cs typeface="Arial" pitchFamily="34" charset="-120"/>
              </a:rPr>
              <a:t>04</a:t>
            </a:r>
            <a:endParaRPr lang="en-US" sz="620" dirty="0"/>
          </a:p>
        </p:txBody>
      </p:sp>
      <p:sp>
        <p:nvSpPr>
          <p:cNvPr id="21" name="Text 19"/>
          <p:cNvSpPr/>
          <p:nvPr/>
        </p:nvSpPr>
        <p:spPr>
          <a:xfrm>
            <a:off x="8174736" y="3657600"/>
            <a:ext cx="1783080" cy="548640"/>
          </a:xfrm>
          <a:prstGeom prst="rect">
            <a:avLst/>
          </a:prstGeom>
          <a:noFill/>
          <a:ln/>
        </p:spPr>
        <p:txBody>
          <a:bodyPr wrap="square" lIns="0" tIns="0" rIns="0" bIns="0" rtlCol="0" anchor="t">
            <a:normAutofit/>
          </a:bodyPr>
          <a:lstStyle/>
          <a:p>
            <a:pPr algn="l" indent="0" marL="0">
              <a:buNone/>
            </a:pPr>
            <a:r>
              <a:rPr lang="en-US" sz="1200" b="1" dirty="0">
                <a:solidFill>
                  <a:srgbClr val="FFFFFF"/>
                </a:solidFill>
                <a:latin typeface="Arial" pitchFamily="34" charset="0"/>
                <a:ea typeface="Arial" pitchFamily="34" charset="-122"/>
                <a:cs typeface="Arial" pitchFamily="34" charset="-120"/>
              </a:rPr>
              <a:t>PARTENAIRE MAJEUR</a:t>
            </a:r>
            <a:endParaRPr lang="en-US" sz="1200" dirty="0"/>
          </a:p>
        </p:txBody>
      </p:sp>
      <p:sp>
        <p:nvSpPr>
          <p:cNvPr id="22" name="Text 20"/>
          <p:cNvSpPr/>
          <p:nvPr/>
        </p:nvSpPr>
        <p:spPr>
          <a:xfrm>
            <a:off x="8174736" y="4434840"/>
            <a:ext cx="1783080" cy="411480"/>
          </a:xfrm>
          <a:prstGeom prst="rect">
            <a:avLst/>
          </a:prstGeom>
          <a:noFill/>
          <a:ln/>
        </p:spPr>
        <p:txBody>
          <a:bodyPr wrap="square" lIns="0" tIns="0" rIns="0" bIns="0" rtlCol="0" anchor="t">
            <a:normAutofit/>
          </a:bodyPr>
          <a:lstStyle/>
          <a:p>
            <a:pPr algn="l" indent="0" marL="0">
              <a:buNone/>
            </a:pPr>
            <a:r>
              <a:t>5 000 € +</a:t>
            </a:r>
            <a:endParaRPr lang="en-US" sz="1800" dirty="0"/>
          </a:p>
        </p:txBody>
      </p:sp>
      <p:sp>
        <p:nvSpPr>
          <p:cNvPr id="23" name="Text 21"/>
          <p:cNvSpPr/>
          <p:nvPr/>
        </p:nvSpPr>
        <p:spPr>
          <a:xfrm>
            <a:off x="8174736" y="5166360"/>
            <a:ext cx="1737360" cy="594360"/>
          </a:xfrm>
          <a:prstGeom prst="rect">
            <a:avLst/>
          </a:prstGeom>
          <a:noFill/>
          <a:ln/>
        </p:spPr>
        <p:txBody>
          <a:bodyPr wrap="square" lIns="0" tIns="0" rIns="0" bIns="0" rtlCol="0" anchor="t">
            <a:normAutofit/>
          </a:bodyPr>
          <a:lstStyle/>
          <a:p>
            <a:pPr algn="l" indent="0" marL="0">
              <a:buNone/>
            </a:pPr>
            <a:r>
              <a:rPr lang="en-US" sz="810" dirty="0">
                <a:solidFill>
                  <a:srgbClr val="FFFFFF"/>
                </a:solidFill>
                <a:latin typeface="Arial" pitchFamily="34" charset="0"/>
                <a:ea typeface="Arial" pitchFamily="34" charset="-122"/>
                <a:cs typeface="Arial" pitchFamily="34" charset="-120"/>
              </a:rPr>
              <a:t>Collaboration sur mesure</a:t>
            </a:r>
            <a:endParaRPr lang="en-US" sz="810" dirty="0"/>
          </a:p>
          <a:p>
            <a:pPr algn="l" indent="0" marL="0">
              <a:buNone/>
            </a:pPr>
            <a:r>
              <a:rPr lang="en-US" sz="810" dirty="0">
                <a:solidFill>
                  <a:srgbClr val="FFFFFF"/>
                </a:solidFill>
                <a:latin typeface="Arial" pitchFamily="34" charset="0"/>
                <a:ea typeface="Arial" pitchFamily="34" charset="-122"/>
                <a:cs typeface="Arial" pitchFamily="34" charset="-120"/>
              </a:rPr>
              <a:t>Contenus photo / vidéo</a:t>
            </a:r>
            <a:endParaRPr lang="en-US" sz="810" dirty="0"/>
          </a:p>
        </p:txBody>
      </p:sp>
      <p:sp>
        <p:nvSpPr>
          <p:cNvPr id="24" name="Text 22"/>
          <p:cNvSpPr/>
          <p:nvPr/>
        </p:nvSpPr>
        <p:spPr>
          <a:xfrm>
            <a:off x="530352" y="6656832"/>
            <a:ext cx="512064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À ADAPTER AU CADRE DE L’ASSOCIATION ET À LA NATURE DU SOUTIEN.</a:t>
            </a:r>
            <a:endParaRPr lang="en-US" sz="620" dirty="0"/>
          </a:p>
        </p:txBody>
      </p:sp>
      <p:sp>
        <p:nvSpPr>
          <p:cNvPr id="25" name="Text 23"/>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14 / 18</a:t>
            </a:r>
            <a:endParaRPr lang="en-US" sz="570" dirty="0"/>
          </a:p>
        </p:txBody>
      </p:sp>
      <p:sp>
        <p:nvSpPr>
          <p:cNvPr id="26" name="TextBox 25"/>
          <p:cNvSpPr txBox="1"/>
          <p:nvPr/>
        </p:nvSpPr>
        <p:spPr>
          <a:xfrm>
            <a:off x="685800" y="6108192"/>
            <a:ext cx="10789920" cy="438912"/>
          </a:xfrm>
          <a:prstGeom prst="rect">
            <a:avLst/>
          </a:prstGeom>
          <a:noFill/>
        </p:spPr>
        <p:txBody>
          <a:bodyPr wrap="square">
            <a:spAutoFit/>
          </a:bodyPr>
          <a:lstStyle/>
          <a:p>
            <a:r>
              <a:rPr sz="750" b="1">
                <a:solidFill>
                  <a:srgbClr val="141412"/>
                </a:solidFill>
                <a:latin typeface="Arial"/>
              </a:rPr>
              <a:t>Chaque partenariat donne également accès à une session de découverte du BMX, pour vivre de l’intérieur le sport et le projet que vous accompagnez.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502920" y="594360"/>
            <a:ext cx="4480560" cy="914400"/>
          </a:xfrm>
          <a:prstGeom prst="rect">
            <a:avLst/>
          </a:prstGeom>
          <a:noFill/>
          <a:ln/>
        </p:spPr>
        <p:txBody>
          <a:bodyPr wrap="square" lIns="0" tIns="0" rIns="0" bIns="0" rtlCol="0" anchor="t">
            <a:normAutofit/>
          </a:bodyPr>
          <a:lstStyle/>
          <a:p>
            <a:pPr algn="l" indent="0" marL="0">
              <a:buNone/>
            </a:pPr>
            <a:r>
              <a:rPr lang="en-US" sz="2600" b="1" dirty="0">
                <a:solidFill>
                  <a:srgbClr val="111111"/>
                </a:solidFill>
                <a:latin typeface="Arial" pitchFamily="34" charset="0"/>
                <a:ea typeface="Arial" pitchFamily="34" charset="-122"/>
                <a:cs typeface="Arial" pitchFamily="34" charset="-120"/>
              </a:rPr>
              <a:t>PLUS QU’UN</a:t>
            </a:r>
            <a:endParaRPr lang="en-US" sz="2600" dirty="0"/>
          </a:p>
          <a:p>
            <a:pPr algn="l" indent="0" marL="0">
              <a:buNone/>
            </a:pPr>
            <a:r>
              <a:rPr lang="en-US" sz="2600" b="1" dirty="0">
                <a:solidFill>
                  <a:srgbClr val="111111"/>
                </a:solidFill>
                <a:latin typeface="Arial" pitchFamily="34" charset="0"/>
                <a:ea typeface="Arial" pitchFamily="34" charset="-122"/>
                <a:cs typeface="Arial" pitchFamily="34" charset="-120"/>
              </a:rPr>
              <a:t>SPONSORING.</a:t>
            </a:r>
            <a:endParaRPr lang="en-US" sz="2600" dirty="0"/>
          </a:p>
        </p:txBody>
      </p:sp>
      <p:sp>
        <p:nvSpPr>
          <p:cNvPr id="3" name="Text 1"/>
          <p:cNvSpPr/>
          <p:nvPr/>
        </p:nvSpPr>
        <p:spPr>
          <a:xfrm>
            <a:off x="530352" y="1874520"/>
            <a:ext cx="4160520" cy="3383280"/>
          </a:xfrm>
          <a:prstGeom prst="rect">
            <a:avLst/>
          </a:prstGeom>
          <a:noFill/>
          <a:ln/>
        </p:spPr>
        <p:txBody>
          <a:bodyPr wrap="square" lIns="0" tIns="0" rIns="0" bIns="0" rtlCol="0" anchor="t">
            <a:normAutofit/>
          </a:bodyPr>
          <a:lstStyle/>
          <a:p>
            <a:pPr algn="l" indent="0" marL="0">
              <a:buNone/>
            </a:pPr>
            <a:r>
              <a:rPr lang="en-US" sz="930" dirty="0">
                <a:solidFill>
                  <a:srgbClr val="111111"/>
                </a:solidFill>
                <a:latin typeface="Arial" pitchFamily="34" charset="0"/>
                <a:ea typeface="Arial" pitchFamily="34" charset="-122"/>
                <a:cs typeface="Arial" pitchFamily="34" charset="-120"/>
              </a:rPr>
              <a:t>Toutes les entreprises n’ont pas forcément un lien naturel avec le BMX. C’est précisément là que mon activité de photographe et vidéaste peut apporter une vraie valeur au partenariat.</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En parallèle de ma carrière sportive, je produis du contenu photo et vidéo. Je peux donc imaginer avec un partenaire des contenus directement utiles à son entreprise : présenter un produit, valoriser un savoir-faire, couvrir un événement ou créer des formats adaptés aux réseaux sociaux. Tous les contenus sont créés sur mesure pour s’adapter aux besoins et à l’identité de votre entreprise.</a:t>
            </a:r>
            <a:endParaRPr lang="en-US" sz="930" dirty="0"/>
          </a:p>
          <a:p>
            <a:pPr algn="l" indent="0" marL="0">
              <a:buNone/>
            </a:pPr>
            <a:endParaRPr lang="en-US" sz="930" dirty="0"/>
          </a:p>
          <a:p>
            <a:pPr algn="l" indent="0" marL="0">
              <a:buNone/>
            </a:pPr>
            <a:r>
              <a:rPr lang="en-US" sz="930" dirty="0">
                <a:solidFill>
                  <a:srgbClr val="111111"/>
                </a:solidFill>
                <a:latin typeface="Arial" pitchFamily="34" charset="0"/>
                <a:ea typeface="Arial" pitchFamily="34" charset="-122"/>
                <a:cs typeface="Arial" pitchFamily="34" charset="-120"/>
              </a:rPr>
              <a:t>Le partenariat ne repose alors plus uniquement sur ma visibilité sportive. Il devient aussi une occasion de produire quelque chose de concret pour l’entreprise.</a:t>
            </a:r>
            <a:endParaRPr lang="en-US" sz="930" dirty="0"/>
          </a:p>
        </p:txBody>
      </p:sp>
      <p:pic>
        <p:nvPicPr>
          <p:cNvPr id="4" name="Image 0" descr="/mnt/data/DSCF3361.JPG">    </p:cNvPr>
          <p:cNvPicPr>
            <a:picLocks noChangeAspect="1"/>
          </p:cNvPicPr>
          <p:nvPr/>
        </p:nvPicPr>
        <p:blipFill>
          <a:blip r:embed="rId1"/>
          <a:srcRect l="0" r="0" t="12129" b="12129"/>
          <a:stretch/>
        </p:blipFill>
        <p:spPr>
          <a:xfrm>
            <a:off x="5074920" y="0"/>
            <a:ext cx="5614416" cy="7559985"/>
          </a:xfrm>
          <a:prstGeom prst="rect">
            <a:avLst/>
          </a:prstGeom>
        </p:spPr>
      </p:pic>
      <p:sp>
        <p:nvSpPr>
          <p:cNvPr id="5" name="Text 2"/>
          <p:cNvSpPr/>
          <p:nvPr/>
        </p:nvSpPr>
        <p:spPr>
          <a:xfrm>
            <a:off x="530352" y="6537960"/>
            <a:ext cx="27432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SPORT / IMAGE / ENTREPRISE</a:t>
            </a:r>
            <a:endParaRPr lang="en-US" sz="620" dirty="0"/>
          </a:p>
        </p:txBody>
      </p:sp>
      <p:sp>
        <p:nvSpPr>
          <p:cNvPr id="6" name="Text 3"/>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15 / 18</a:t>
            </a:r>
            <a:endParaRPr lang="en-US" sz="5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2" name="TextBox 1"/>
          <p:cNvSpPr txBox="1"/>
          <p:nvPr/>
        </p:nvSpPr>
        <p:spPr>
          <a:xfrm>
            <a:off x="530352" y="475488"/>
            <a:ext cx="4389120" cy="457200"/>
          </a:xfrm>
          <a:prstGeom prst="rect">
            <a:avLst/>
          </a:prstGeom>
          <a:noFill/>
        </p:spPr>
        <p:txBody>
          <a:bodyPr wrap="square" lIns="0" rIns="0" tIns="0" bIns="0">
            <a:spAutoFit/>
          </a:bodyPr>
          <a:lstStyle/>
          <a:p>
            <a:pPr algn="l"/>
            <a:r>
              <a:rPr sz="2000" b="1">
                <a:solidFill>
                  <a:srgbClr val="141412"/>
                </a:solidFill>
                <a:latin typeface="Arial"/>
              </a:rPr>
              <a:t>PHOTO &amp; VIDÉO
POUR VOTRE ENTREPRISE.</a:t>
            </a:r>
          </a:p>
        </p:txBody>
      </p:sp>
      <p:sp>
        <p:nvSpPr>
          <p:cNvPr id="3" name="Rectangle 2"/>
          <p:cNvSpPr/>
          <p:nvPr/>
        </p:nvSpPr>
        <p:spPr>
          <a:xfrm>
            <a:off x="530352" y="1280160"/>
            <a:ext cx="384048" cy="23774"/>
          </a:xfrm>
          <a:prstGeom prst="rect">
            <a:avLst/>
          </a:prstGeom>
          <a:solidFill>
            <a:srgbClr val="14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572768"/>
            <a:ext cx="3886200" cy="594360"/>
          </a:xfrm>
          <a:prstGeom prst="rect">
            <a:avLst/>
          </a:prstGeom>
          <a:noFill/>
        </p:spPr>
        <p:txBody>
          <a:bodyPr wrap="square" lIns="0" rIns="0" tIns="0" bIns="0">
            <a:spAutoFit/>
          </a:bodyPr>
          <a:lstStyle/>
          <a:p>
            <a:pPr algn="l"/>
            <a:r>
              <a:rPr sz="1010" b="0">
                <a:solidFill>
                  <a:srgbClr val="141412"/>
                </a:solidFill>
                <a:latin typeface="Arial"/>
              </a:rPr>
              <a:t>Au-delà de la visibilité liée à ma saison sportive, je peux mettre mon expérience de photographe et vidéaste au service de votre entreprise.</a:t>
            </a:r>
          </a:p>
        </p:txBody>
      </p:sp>
      <p:sp>
        <p:nvSpPr>
          <p:cNvPr id="5" name="TextBox 4"/>
          <p:cNvSpPr txBox="1"/>
          <p:nvPr/>
        </p:nvSpPr>
        <p:spPr>
          <a:xfrm>
            <a:off x="530352" y="2395728"/>
            <a:ext cx="1143000" cy="182880"/>
          </a:xfrm>
          <a:prstGeom prst="rect">
            <a:avLst/>
          </a:prstGeom>
          <a:noFill/>
        </p:spPr>
        <p:txBody>
          <a:bodyPr wrap="square" lIns="0" rIns="0" tIns="0" bIns="0">
            <a:spAutoFit/>
          </a:bodyPr>
          <a:lstStyle/>
          <a:p>
            <a:pPr algn="l"/>
            <a:r>
              <a:rPr sz="720" b="1">
                <a:solidFill>
                  <a:srgbClr val="6E6A63"/>
                </a:solidFill>
                <a:latin typeface="Arial"/>
              </a:rPr>
              <a:t>PHOTO</a:t>
            </a:r>
          </a:p>
        </p:txBody>
      </p:sp>
      <p:sp>
        <p:nvSpPr>
          <p:cNvPr id="6" name="TextBox 5"/>
          <p:cNvSpPr txBox="1"/>
          <p:nvPr/>
        </p:nvSpPr>
        <p:spPr>
          <a:xfrm>
            <a:off x="1737360" y="2395728"/>
            <a:ext cx="2743200" cy="347472"/>
          </a:xfrm>
          <a:prstGeom prst="rect">
            <a:avLst/>
          </a:prstGeom>
          <a:noFill/>
        </p:spPr>
        <p:txBody>
          <a:bodyPr wrap="square" lIns="0" rIns="0" tIns="0" bIns="0">
            <a:spAutoFit/>
          </a:bodyPr>
          <a:lstStyle/>
          <a:p>
            <a:pPr algn="l"/>
            <a:r>
              <a:rPr sz="819" b="0">
                <a:solidFill>
                  <a:srgbClr val="141412"/>
                </a:solidFill>
                <a:latin typeface="Arial"/>
              </a:rPr>
              <a:t>Produits, portraits, événements, communication.</a:t>
            </a:r>
          </a:p>
        </p:txBody>
      </p:sp>
      <p:sp>
        <p:nvSpPr>
          <p:cNvPr id="7" name="TextBox 6"/>
          <p:cNvSpPr txBox="1"/>
          <p:nvPr/>
        </p:nvSpPr>
        <p:spPr>
          <a:xfrm>
            <a:off x="530352" y="3145536"/>
            <a:ext cx="1143000" cy="182880"/>
          </a:xfrm>
          <a:prstGeom prst="rect">
            <a:avLst/>
          </a:prstGeom>
          <a:noFill/>
        </p:spPr>
        <p:txBody>
          <a:bodyPr wrap="square" lIns="0" rIns="0" tIns="0" bIns="0">
            <a:spAutoFit/>
          </a:bodyPr>
          <a:lstStyle/>
          <a:p>
            <a:pPr algn="l"/>
            <a:r>
              <a:rPr sz="720" b="1">
                <a:solidFill>
                  <a:srgbClr val="6E6A63"/>
                </a:solidFill>
                <a:latin typeface="Arial"/>
              </a:rPr>
              <a:t>VIDÉO</a:t>
            </a:r>
          </a:p>
        </p:txBody>
      </p:sp>
      <p:sp>
        <p:nvSpPr>
          <p:cNvPr id="8" name="TextBox 7"/>
          <p:cNvSpPr txBox="1"/>
          <p:nvPr/>
        </p:nvSpPr>
        <p:spPr>
          <a:xfrm>
            <a:off x="1737360" y="3145536"/>
            <a:ext cx="2743200" cy="347472"/>
          </a:xfrm>
          <a:prstGeom prst="rect">
            <a:avLst/>
          </a:prstGeom>
          <a:noFill/>
        </p:spPr>
        <p:txBody>
          <a:bodyPr wrap="square" lIns="0" rIns="0" tIns="0" bIns="0">
            <a:spAutoFit/>
          </a:bodyPr>
          <a:lstStyle/>
          <a:p>
            <a:pPr algn="l"/>
            <a:r>
              <a:rPr sz="819" b="0">
                <a:solidFill>
                  <a:srgbClr val="141412"/>
                </a:solidFill>
                <a:latin typeface="Arial"/>
              </a:rPr>
              <a:t>Présentation d’entreprise, produits, interviews, formats courts.</a:t>
            </a:r>
          </a:p>
        </p:txBody>
      </p:sp>
      <p:sp>
        <p:nvSpPr>
          <p:cNvPr id="9" name="TextBox 8"/>
          <p:cNvSpPr txBox="1"/>
          <p:nvPr/>
        </p:nvSpPr>
        <p:spPr>
          <a:xfrm>
            <a:off x="530352" y="3895344"/>
            <a:ext cx="1143000" cy="182880"/>
          </a:xfrm>
          <a:prstGeom prst="rect">
            <a:avLst/>
          </a:prstGeom>
          <a:noFill/>
        </p:spPr>
        <p:txBody>
          <a:bodyPr wrap="square" lIns="0" rIns="0" tIns="0" bIns="0">
            <a:spAutoFit/>
          </a:bodyPr>
          <a:lstStyle/>
          <a:p>
            <a:pPr algn="l"/>
            <a:r>
              <a:rPr sz="720" b="1">
                <a:solidFill>
                  <a:srgbClr val="6E6A63"/>
                </a:solidFill>
                <a:latin typeface="Arial"/>
              </a:rPr>
              <a:t>RÉSEAUX SOCIAUX</a:t>
            </a:r>
          </a:p>
        </p:txBody>
      </p:sp>
      <p:sp>
        <p:nvSpPr>
          <p:cNvPr id="10" name="TextBox 9"/>
          <p:cNvSpPr txBox="1"/>
          <p:nvPr/>
        </p:nvSpPr>
        <p:spPr>
          <a:xfrm>
            <a:off x="1737360" y="3895344"/>
            <a:ext cx="2743200" cy="347472"/>
          </a:xfrm>
          <a:prstGeom prst="rect">
            <a:avLst/>
          </a:prstGeom>
          <a:noFill/>
        </p:spPr>
        <p:txBody>
          <a:bodyPr wrap="square" lIns="0" rIns="0" tIns="0" bIns="0">
            <a:spAutoFit/>
          </a:bodyPr>
          <a:lstStyle/>
          <a:p>
            <a:pPr algn="l"/>
            <a:r>
              <a:rPr sz="819" b="0">
                <a:solidFill>
                  <a:srgbClr val="141412"/>
                </a:solidFill>
                <a:latin typeface="Arial"/>
              </a:rPr>
              <a:t>Contenus verticaux pour Instagram, LinkedIn et vos campagnes.</a:t>
            </a:r>
          </a:p>
        </p:txBody>
      </p:sp>
      <p:sp>
        <p:nvSpPr>
          <p:cNvPr id="11" name="TextBox 10"/>
          <p:cNvSpPr txBox="1"/>
          <p:nvPr/>
        </p:nvSpPr>
        <p:spPr>
          <a:xfrm>
            <a:off x="530352" y="4645152"/>
            <a:ext cx="1143000" cy="182880"/>
          </a:xfrm>
          <a:prstGeom prst="rect">
            <a:avLst/>
          </a:prstGeom>
          <a:noFill/>
        </p:spPr>
        <p:txBody>
          <a:bodyPr wrap="square" lIns="0" rIns="0" tIns="0" bIns="0">
            <a:spAutoFit/>
          </a:bodyPr>
          <a:lstStyle/>
          <a:p>
            <a:pPr algn="l"/>
            <a:r>
              <a:rPr sz="720" b="1">
                <a:solidFill>
                  <a:srgbClr val="6E6A63"/>
                </a:solidFill>
                <a:latin typeface="Arial"/>
              </a:rPr>
              <a:t>SUR MESURE</a:t>
            </a:r>
          </a:p>
        </p:txBody>
      </p:sp>
      <p:sp>
        <p:nvSpPr>
          <p:cNvPr id="12" name="TextBox 11"/>
          <p:cNvSpPr txBox="1"/>
          <p:nvPr/>
        </p:nvSpPr>
        <p:spPr>
          <a:xfrm>
            <a:off x="1737360" y="4645152"/>
            <a:ext cx="2743200" cy="347472"/>
          </a:xfrm>
          <a:prstGeom prst="rect">
            <a:avLst/>
          </a:prstGeom>
          <a:noFill/>
        </p:spPr>
        <p:txBody>
          <a:bodyPr wrap="square" lIns="0" rIns="0" tIns="0" bIns="0">
            <a:spAutoFit/>
          </a:bodyPr>
          <a:lstStyle/>
          <a:p>
            <a:pPr algn="l"/>
            <a:r>
              <a:rPr sz="819" b="0">
                <a:solidFill>
                  <a:srgbClr val="141412"/>
                </a:solidFill>
                <a:latin typeface="Arial"/>
              </a:rPr>
              <a:t>Une production adaptée à vos besoins et à votre identité.</a:t>
            </a:r>
          </a:p>
        </p:txBody>
      </p:sp>
      <p:pic>
        <p:nvPicPr>
          <p:cNvPr id="13" name="Picture 12" descr="image.jpg"/>
          <p:cNvPicPr>
            <a:picLocks noChangeAspect="1"/>
          </p:cNvPicPr>
          <p:nvPr/>
        </p:nvPicPr>
        <p:blipFill>
          <a:blip r:embed="rId5"/>
          <a:srcRect t="27872" b="27872"/>
          <a:stretch>
            <a:fillRect/>
          </a:stretch>
        </p:blipFill>
        <p:spPr>
          <a:xfrm>
            <a:off x="5074920" y="411480"/>
            <a:ext cx="6355080" cy="1874519"/>
          </a:xfrm>
          <a:prstGeom prst="rect">
            <a:avLst/>
          </a:prstGeom>
        </p:spPr>
      </p:pic>
      <p:pic>
        <p:nvPicPr>
          <p:cNvPr id="14" name="Picture 13" descr="image.jpg"/>
          <p:cNvPicPr>
            <a:picLocks noChangeAspect="1"/>
          </p:cNvPicPr>
          <p:nvPr/>
        </p:nvPicPr>
        <p:blipFill>
          <a:blip r:embed="rId1"/>
          <a:srcRect t="27872" b="27872"/>
          <a:stretch>
            <a:fillRect/>
          </a:stretch>
        </p:blipFill>
        <p:spPr>
          <a:xfrm>
            <a:off x="5074920" y="2487168"/>
            <a:ext cx="6355080" cy="1874519"/>
          </a:xfrm>
          <a:prstGeom prst="rect">
            <a:avLst/>
          </a:prstGeom>
        </p:spPr>
      </p:pic>
      <p:pic>
        <p:nvPicPr>
          <p:cNvPr id="15" name="Picture 14" descr="image.jpg"/>
          <p:cNvPicPr>
            <a:picLocks noChangeAspect="1"/>
          </p:cNvPicPr>
          <p:nvPr/>
        </p:nvPicPr>
        <p:blipFill>
          <a:blip r:embed="rId6"/>
          <a:srcRect t="27872" b="27872"/>
          <a:stretch>
            <a:fillRect/>
          </a:stretch>
        </p:blipFill>
        <p:spPr>
          <a:xfrm>
            <a:off x="5074920" y="4553712"/>
            <a:ext cx="6355080" cy="1874519"/>
          </a:xfrm>
          <a:prstGeom prst="rect">
            <a:avLst/>
          </a:prstGeom>
        </p:spPr>
      </p:pic>
      <p:sp>
        <p:nvSpPr>
          <p:cNvPr id="16" name="TextBox 15"/>
          <p:cNvSpPr txBox="1"/>
          <p:nvPr/>
        </p:nvSpPr>
        <p:spPr>
          <a:xfrm>
            <a:off x="5138928" y="6537960"/>
            <a:ext cx="2926080" cy="128016"/>
          </a:xfrm>
          <a:prstGeom prst="rect">
            <a:avLst/>
          </a:prstGeom>
          <a:noFill/>
        </p:spPr>
        <p:txBody>
          <a:bodyPr wrap="square" lIns="0" rIns="0" tIns="0" bIns="0">
            <a:spAutoFit/>
          </a:bodyPr>
          <a:lstStyle/>
          <a:p>
            <a:pPr algn="l"/>
            <a:r>
              <a:rPr sz="620" b="1">
                <a:solidFill>
                  <a:srgbClr val="6E6A63"/>
                </a:solidFill>
                <a:latin typeface="Arial"/>
              </a:rPr>
              <a:t>PRODUIT • STUDIO • IMAGE DE MARQUE</a:t>
            </a:r>
          </a:p>
        </p:txBody>
      </p:sp>
      <p:sp>
        <p:nvSpPr>
          <p:cNvPr id="17" name="TextBox 16"/>
          <p:cNvSpPr txBox="1"/>
          <p:nvPr/>
        </p:nvSpPr>
        <p:spPr>
          <a:xfrm>
            <a:off x="11631168" y="6528816"/>
            <a:ext cx="274320" cy="118872"/>
          </a:xfrm>
          <a:prstGeom prst="rect">
            <a:avLst/>
          </a:prstGeom>
          <a:noFill/>
        </p:spPr>
        <p:txBody>
          <a:bodyPr wrap="square" lIns="0" rIns="0" tIns="0" bIns="0">
            <a:spAutoFit/>
          </a:bodyPr>
          <a:lstStyle/>
          <a:p>
            <a:pPr algn="l"/>
            <a:r>
              <a:rPr sz="600" b="1">
                <a:solidFill>
                  <a:srgbClr val="6E6A63"/>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0E8"/>
        </a:solidFill>
      </p:bgPr>
    </p:bg>
    <p:spTree>
      <p:nvGrpSpPr>
        <p:cNvPr id="1" name=""/>
        <p:cNvGrpSpPr/>
        <p:nvPr/>
      </p:nvGrpSpPr>
      <p:grpSpPr>
        <a:xfrm>
          <a:off x="0" y="0"/>
          <a:ext cx="0" cy="0"/>
          <a:chOff x="0" y="0"/>
          <a:chExt cx="0" cy="0"/>
        </a:xfrm>
      </p:grpSpPr>
      <p:pic>
        <p:nvPicPr>
          <p:cNvPr id="2" name="Image 0" descr="/mnt/data/IMG_6886.jpg">    </p:cNvPr>
          <p:cNvPicPr>
            <a:picLocks noChangeAspect="1"/>
          </p:cNvPicPr>
          <p:nvPr/>
        </p:nvPicPr>
        <p:blipFill>
          <a:blip r:embed="rId1"/>
          <a:srcRect l="32810" r="32810" t="0" b="0"/>
          <a:stretch/>
        </p:blipFill>
        <p:spPr>
          <a:xfrm>
            <a:off x="0" y="0"/>
            <a:ext cx="4709160" cy="7559985"/>
          </a:xfrm>
          <a:prstGeom prst="rect">
            <a:avLst/>
          </a:prstGeom>
        </p:spPr>
      </p:pic>
      <p:sp>
        <p:nvSpPr>
          <p:cNvPr id="3" name="Text 0"/>
          <p:cNvSpPr/>
          <p:nvPr/>
        </p:nvSpPr>
        <p:spPr>
          <a:xfrm>
            <a:off x="5166360" y="594360"/>
            <a:ext cx="3566160" cy="914400"/>
          </a:xfrm>
          <a:prstGeom prst="rect">
            <a:avLst/>
          </a:prstGeom>
          <a:noFill/>
          <a:ln/>
        </p:spPr>
        <p:txBody>
          <a:bodyPr wrap="square" lIns="0" tIns="0" rIns="0" bIns="0" rtlCol="0" anchor="t">
            <a:normAutofit/>
          </a:bodyPr>
          <a:lstStyle/>
          <a:p>
            <a:pPr algn="l" indent="0" marL="0">
              <a:buNone/>
            </a:pPr>
            <a:r>
              <a:rPr lang="en-US" sz="2600" b="1" dirty="0">
                <a:solidFill>
                  <a:srgbClr val="111111"/>
                </a:solidFill>
                <a:latin typeface="Arial" pitchFamily="34" charset="0"/>
                <a:ea typeface="Arial" pitchFamily="34" charset="-122"/>
                <a:cs typeface="Arial" pitchFamily="34" charset="-120"/>
              </a:rPr>
              <a:t>PIERRE</a:t>
            </a:r>
            <a:endParaRPr lang="en-US" sz="2600" dirty="0"/>
          </a:p>
          <a:p>
            <a:pPr algn="l" indent="0" marL="0">
              <a:buNone/>
            </a:pPr>
            <a:r>
              <a:rPr lang="en-US" sz="2600" b="1" dirty="0">
                <a:solidFill>
                  <a:srgbClr val="111111"/>
                </a:solidFill>
                <a:latin typeface="Arial" pitchFamily="34" charset="0"/>
                <a:ea typeface="Arial" pitchFamily="34" charset="-122"/>
                <a:cs typeface="Arial" pitchFamily="34" charset="-120"/>
              </a:rPr>
              <a:t>GEISSE</a:t>
            </a:r>
            <a:endParaRPr lang="en-US" sz="2600" dirty="0"/>
          </a:p>
        </p:txBody>
      </p:sp>
      <p:sp>
        <p:nvSpPr>
          <p:cNvPr id="4" name="Text 1"/>
          <p:cNvSpPr/>
          <p:nvPr/>
        </p:nvSpPr>
        <p:spPr>
          <a:xfrm>
            <a:off x="5193792" y="1828800"/>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22 ANS</a:t>
            </a:r>
            <a:endParaRPr lang="en-US" sz="620" dirty="0"/>
          </a:p>
        </p:txBody>
      </p:sp>
      <p:sp>
        <p:nvSpPr>
          <p:cNvPr id="5" name="Text 2"/>
          <p:cNvSpPr/>
          <p:nvPr/>
        </p:nvSpPr>
        <p:spPr>
          <a:xfrm>
            <a:off x="6720840" y="1810512"/>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VISAN — VAUCLUSE</a:t>
            </a:r>
            <a:endParaRPr lang="en-US" sz="930" dirty="0"/>
          </a:p>
        </p:txBody>
      </p:sp>
      <p:sp>
        <p:nvSpPr>
          <p:cNvPr id="6" name="Shape 3"/>
          <p:cNvSpPr/>
          <p:nvPr/>
        </p:nvSpPr>
        <p:spPr>
          <a:xfrm>
            <a:off x="5193792" y="2176272"/>
            <a:ext cx="4434840" cy="0"/>
          </a:xfrm>
          <a:prstGeom prst="line">
            <a:avLst/>
          </a:prstGeom>
          <a:noFill/>
          <a:ln w="6985">
            <a:solidFill>
              <a:srgbClr val="C9C5BB"/>
            </a:solidFill>
            <a:prstDash val="solid"/>
          </a:ln>
        </p:spPr>
      </p:sp>
      <p:sp>
        <p:nvSpPr>
          <p:cNvPr id="7" name="Text 4"/>
          <p:cNvSpPr/>
          <p:nvPr/>
        </p:nvSpPr>
        <p:spPr>
          <a:xfrm>
            <a:off x="5193792" y="2404872"/>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CATÉGORIE</a:t>
            </a:r>
            <a:endParaRPr lang="en-US" sz="620" dirty="0"/>
          </a:p>
        </p:txBody>
      </p:sp>
      <p:sp>
        <p:nvSpPr>
          <p:cNvPr id="8" name="Text 5"/>
          <p:cNvSpPr/>
          <p:nvPr/>
        </p:nvSpPr>
        <p:spPr>
          <a:xfrm>
            <a:off x="6720840" y="2386584"/>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ÉLITE</a:t>
            </a:r>
            <a:endParaRPr lang="en-US" sz="930" dirty="0"/>
          </a:p>
        </p:txBody>
      </p:sp>
      <p:sp>
        <p:nvSpPr>
          <p:cNvPr id="9" name="Shape 6"/>
          <p:cNvSpPr/>
          <p:nvPr/>
        </p:nvSpPr>
        <p:spPr>
          <a:xfrm>
            <a:off x="5193792" y="2752344"/>
            <a:ext cx="4434840" cy="0"/>
          </a:xfrm>
          <a:prstGeom prst="line">
            <a:avLst/>
          </a:prstGeom>
          <a:noFill/>
          <a:ln w="6985">
            <a:solidFill>
              <a:srgbClr val="C9C5BB"/>
            </a:solidFill>
            <a:prstDash val="solid"/>
          </a:ln>
        </p:spPr>
      </p:sp>
      <p:sp>
        <p:nvSpPr>
          <p:cNvPr id="10" name="Text 7"/>
          <p:cNvSpPr/>
          <p:nvPr/>
        </p:nvSpPr>
        <p:spPr>
          <a:xfrm>
            <a:off x="5193792" y="2980944"/>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CLUB</a:t>
            </a:r>
            <a:endParaRPr lang="en-US" sz="620" dirty="0"/>
          </a:p>
        </p:txBody>
      </p:sp>
      <p:sp>
        <p:nvSpPr>
          <p:cNvPr id="11" name="Text 8"/>
          <p:cNvSpPr/>
          <p:nvPr/>
        </p:nvSpPr>
        <p:spPr>
          <a:xfrm>
            <a:off x="6720840" y="2962656"/>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LEMPDES BMX AUVERGNE</a:t>
            </a:r>
            <a:endParaRPr lang="en-US" sz="930" dirty="0"/>
          </a:p>
        </p:txBody>
      </p:sp>
      <p:sp>
        <p:nvSpPr>
          <p:cNvPr id="12" name="Shape 9"/>
          <p:cNvSpPr/>
          <p:nvPr/>
        </p:nvSpPr>
        <p:spPr>
          <a:xfrm>
            <a:off x="5193792" y="3328416"/>
            <a:ext cx="4434840" cy="0"/>
          </a:xfrm>
          <a:prstGeom prst="line">
            <a:avLst/>
          </a:prstGeom>
          <a:noFill/>
          <a:ln w="6985">
            <a:solidFill>
              <a:srgbClr val="C9C5BB"/>
            </a:solidFill>
            <a:prstDash val="solid"/>
          </a:ln>
        </p:spPr>
      </p:sp>
      <p:sp>
        <p:nvSpPr>
          <p:cNvPr id="13" name="Text 10"/>
          <p:cNvSpPr/>
          <p:nvPr/>
        </p:nvSpPr>
        <p:spPr>
          <a:xfrm>
            <a:off x="5193792" y="3557016"/>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STRUCTURE</a:t>
            </a:r>
            <a:endParaRPr lang="en-US" sz="620" dirty="0"/>
          </a:p>
        </p:txBody>
      </p:sp>
      <p:sp>
        <p:nvSpPr>
          <p:cNvPr id="14" name="Text 11"/>
          <p:cNvSpPr/>
          <p:nvPr/>
        </p:nvSpPr>
        <p:spPr>
          <a:xfrm>
            <a:off x="6720840" y="3538728"/>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TEAM ICE / MTBL PARTS</a:t>
            </a:r>
            <a:endParaRPr lang="en-US" sz="930" dirty="0"/>
          </a:p>
        </p:txBody>
      </p:sp>
      <p:sp>
        <p:nvSpPr>
          <p:cNvPr id="15" name="Shape 12"/>
          <p:cNvSpPr/>
          <p:nvPr/>
        </p:nvSpPr>
        <p:spPr>
          <a:xfrm>
            <a:off x="5193792" y="3904488"/>
            <a:ext cx="4434840" cy="0"/>
          </a:xfrm>
          <a:prstGeom prst="line">
            <a:avLst/>
          </a:prstGeom>
          <a:noFill/>
          <a:ln w="6985">
            <a:solidFill>
              <a:srgbClr val="C9C5BB"/>
            </a:solidFill>
            <a:prstDash val="solid"/>
          </a:ln>
        </p:spPr>
      </p:sp>
      <p:sp>
        <p:nvSpPr>
          <p:cNvPr id="16" name="Text 13"/>
          <p:cNvSpPr/>
          <p:nvPr/>
        </p:nvSpPr>
        <p:spPr>
          <a:xfrm>
            <a:off x="5193792" y="4133088"/>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STATUT</a:t>
            </a:r>
            <a:endParaRPr lang="en-US" sz="620" dirty="0"/>
          </a:p>
        </p:txBody>
      </p:sp>
      <p:sp>
        <p:nvSpPr>
          <p:cNvPr id="17" name="Text 14"/>
          <p:cNvSpPr/>
          <p:nvPr/>
        </p:nvSpPr>
        <p:spPr>
          <a:xfrm>
            <a:off x="6720840" y="4114800"/>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LISTE MINISTÉRIELLE RELÈVE</a:t>
            </a:r>
            <a:endParaRPr lang="en-US" sz="930" dirty="0"/>
          </a:p>
        </p:txBody>
      </p:sp>
      <p:sp>
        <p:nvSpPr>
          <p:cNvPr id="18" name="Shape 15"/>
          <p:cNvSpPr/>
          <p:nvPr/>
        </p:nvSpPr>
        <p:spPr>
          <a:xfrm>
            <a:off x="5193792" y="4480560"/>
            <a:ext cx="4434840" cy="0"/>
          </a:xfrm>
          <a:prstGeom prst="line">
            <a:avLst/>
          </a:prstGeom>
          <a:noFill/>
          <a:ln w="6985">
            <a:solidFill>
              <a:srgbClr val="C9C5BB"/>
            </a:solidFill>
            <a:prstDash val="solid"/>
          </a:ln>
        </p:spPr>
      </p:sp>
      <p:sp>
        <p:nvSpPr>
          <p:cNvPr id="19" name="Text 16"/>
          <p:cNvSpPr/>
          <p:nvPr/>
        </p:nvSpPr>
        <p:spPr>
          <a:xfrm>
            <a:off x="5193792" y="4709160"/>
            <a:ext cx="1280160" cy="164592"/>
          </a:xfrm>
          <a:prstGeom prst="rect">
            <a:avLst/>
          </a:prstGeom>
          <a:noFill/>
          <a:ln/>
        </p:spPr>
        <p:txBody>
          <a:bodyPr wrap="square" lIns="0" tIns="0" rIns="0" bIns="0" rtlCol="0" anchor="t">
            <a:normAutofit/>
          </a:bodyPr>
          <a:lstStyle/>
          <a:p>
            <a:pPr algn="l" indent="0" marL="0">
              <a:buNone/>
            </a:pPr>
            <a:r>
              <a:rPr lang="en-US" sz="620" b="1" spc="115" kern="0" dirty="0">
                <a:solidFill>
                  <a:srgbClr val="6C6A65"/>
                </a:solidFill>
                <a:latin typeface="Arial" pitchFamily="34" charset="0"/>
                <a:ea typeface="Arial" pitchFamily="34" charset="-122"/>
                <a:cs typeface="Arial" pitchFamily="34" charset="-120"/>
              </a:rPr>
              <a:t>ENTRAÎNEMENT</a:t>
            </a:r>
            <a:endParaRPr lang="en-US" sz="620" dirty="0"/>
          </a:p>
        </p:txBody>
      </p:sp>
      <p:sp>
        <p:nvSpPr>
          <p:cNvPr id="20" name="Text 17"/>
          <p:cNvSpPr/>
          <p:nvPr/>
        </p:nvSpPr>
        <p:spPr>
          <a:xfrm>
            <a:off x="6720840" y="4690872"/>
            <a:ext cx="2926080" cy="201168"/>
          </a:xfrm>
          <a:prstGeom prst="rect">
            <a:avLst/>
          </a:prstGeom>
          <a:noFill/>
          <a:ln/>
        </p:spPr>
        <p:txBody>
          <a:bodyPr wrap="square" lIns="0" tIns="0" rIns="0" bIns="0" rtlCol="0" anchor="t">
            <a:normAutofit/>
          </a:bodyPr>
          <a:lstStyle/>
          <a:p>
            <a:pPr algn="l" indent="0" marL="0">
              <a:buNone/>
            </a:pPr>
            <a:r>
              <a:rPr lang="en-US" sz="930" b="1" dirty="0">
                <a:solidFill>
                  <a:srgbClr val="111111"/>
                </a:solidFill>
                <a:latin typeface="Arial" pitchFamily="34" charset="0"/>
                <a:ea typeface="Arial" pitchFamily="34" charset="-122"/>
                <a:cs typeface="Arial" pitchFamily="34" charset="-120"/>
              </a:rPr>
              <a:t>PÔLE FRANCE OLYMPIQUE</a:t>
            </a:r>
            <a:endParaRPr lang="en-US" sz="930" dirty="0"/>
          </a:p>
        </p:txBody>
      </p:sp>
      <p:sp>
        <p:nvSpPr>
          <p:cNvPr id="21" name="Shape 18"/>
          <p:cNvSpPr/>
          <p:nvPr/>
        </p:nvSpPr>
        <p:spPr>
          <a:xfrm>
            <a:off x="5193792" y="5056632"/>
            <a:ext cx="4434840" cy="0"/>
          </a:xfrm>
          <a:prstGeom prst="line">
            <a:avLst/>
          </a:prstGeom>
          <a:noFill/>
          <a:ln w="6985">
            <a:solidFill>
              <a:srgbClr val="C9C5BB"/>
            </a:solidFill>
            <a:prstDash val="solid"/>
          </a:ln>
        </p:spPr>
      </p:sp>
      <p:sp>
        <p:nvSpPr>
          <p:cNvPr id="22" name="Text 19"/>
          <p:cNvSpPr/>
          <p:nvPr/>
        </p:nvSpPr>
        <p:spPr>
          <a:xfrm>
            <a:off x="5193792" y="5650992"/>
            <a:ext cx="118872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INSTAGRAM</a:t>
            </a:r>
            <a:endParaRPr lang="en-US" sz="620" dirty="0"/>
          </a:p>
        </p:txBody>
      </p:sp>
      <p:sp>
        <p:nvSpPr>
          <p:cNvPr id="23" name="Text 20"/>
          <p:cNvSpPr/>
          <p:nvPr/>
        </p:nvSpPr>
        <p:spPr>
          <a:xfrm>
            <a:off x="6720840" y="5632704"/>
            <a:ext cx="3291840" cy="228600"/>
          </a:xfrm>
          <a:prstGeom prst="rect">
            <a:avLst/>
          </a:prstGeom>
          <a:noFill/>
          <a:ln/>
        </p:spPr>
        <p:txBody>
          <a:bodyPr wrap="square" lIns="0" tIns="0" rIns="0" bIns="0" rtlCol="0" anchor="t">
            <a:normAutofit/>
          </a:bodyPr>
          <a:lstStyle/>
          <a:p>
            <a:pPr algn="l" indent="0" marL="0">
              <a:buNone/>
            </a:pPr>
            <a:r>
              <a:rPr lang="en-US" sz="880" dirty="0">
                <a:solidFill>
                  <a:srgbClr val="6C6A65"/>
                </a:solidFill>
                <a:latin typeface="Arial" pitchFamily="34" charset="0"/>
                <a:ea typeface="Arial" pitchFamily="34" charset="-122"/>
                <a:cs typeface="Arial" pitchFamily="34" charset="-120"/>
              </a:rPr>
              <a:t>@pilou_geisse  —  5 200 abonnés  —  ~12K de portée</a:t>
            </a:r>
            <a:endParaRPr lang="en-US" sz="880" dirty="0"/>
          </a:p>
        </p:txBody>
      </p:sp>
      <p:sp>
        <p:nvSpPr>
          <p:cNvPr id="24" name="Text 21"/>
          <p:cNvSpPr/>
          <p:nvPr/>
        </p:nvSpPr>
        <p:spPr>
          <a:xfrm>
            <a:off x="5193792" y="6172200"/>
            <a:ext cx="1097280" cy="164592"/>
          </a:xfrm>
          <a:prstGeom prst="rect">
            <a:avLst/>
          </a:prstGeom>
          <a:noFill/>
          <a:ln/>
        </p:spPr>
        <p:txBody>
          <a:bodyPr wrap="square" lIns="0" tIns="0" rIns="0" bIns="0" rtlCol="0" anchor="t">
            <a:normAutofit/>
          </a:bodyPr>
          <a:lstStyle/>
          <a:p>
            <a:pPr algn="l" indent="0" marL="0">
              <a:buNone/>
            </a:pPr>
            <a:r>
              <a:rPr lang="en-US" sz="620" b="1" spc="115" kern="0" dirty="0">
                <a:solidFill>
                  <a:srgbClr val="111111"/>
                </a:solidFill>
                <a:latin typeface="Arial" pitchFamily="34" charset="0"/>
                <a:ea typeface="Arial" pitchFamily="34" charset="-122"/>
                <a:cs typeface="Arial" pitchFamily="34" charset="-120"/>
              </a:rPr>
              <a:t>YOUTUBE</a:t>
            </a:r>
            <a:endParaRPr lang="en-US" sz="620" dirty="0"/>
          </a:p>
        </p:txBody>
      </p:sp>
      <p:sp>
        <p:nvSpPr>
          <p:cNvPr id="25" name="Text 22"/>
          <p:cNvSpPr/>
          <p:nvPr/>
        </p:nvSpPr>
        <p:spPr>
          <a:xfrm>
            <a:off x="6720840" y="6153912"/>
            <a:ext cx="2743200" cy="228600"/>
          </a:xfrm>
          <a:prstGeom prst="rect">
            <a:avLst/>
          </a:prstGeom>
          <a:noFill/>
          <a:ln/>
        </p:spPr>
        <p:txBody>
          <a:bodyPr wrap="square" lIns="0" tIns="0" rIns="0" bIns="0" rtlCol="0" anchor="t">
            <a:normAutofit/>
          </a:bodyPr>
          <a:lstStyle/>
          <a:p>
            <a:pPr algn="l" indent="0" marL="0">
              <a:buNone/>
            </a:pPr>
            <a:r>
              <a:rPr lang="en-US" sz="880" dirty="0">
                <a:solidFill>
                  <a:srgbClr val="6C6A65"/>
                </a:solidFill>
                <a:latin typeface="Arial" pitchFamily="34" charset="0"/>
                <a:ea typeface="Arial" pitchFamily="34" charset="-122"/>
                <a:cs typeface="Arial" pitchFamily="34" charset="-120"/>
              </a:rPr>
              <a:t>Pierre Geisse</a:t>
            </a:r>
            <a:endParaRPr lang="en-US" sz="880" dirty="0"/>
          </a:p>
        </p:txBody>
      </p:sp>
      <p:sp>
        <p:nvSpPr>
          <p:cNvPr id="26" name="Text 23"/>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6C6A65"/>
                </a:solidFill>
                <a:latin typeface="Arial" pitchFamily="34" charset="0"/>
                <a:ea typeface="Arial" pitchFamily="34" charset="-122"/>
                <a:cs typeface="Arial" pitchFamily="34" charset="-120"/>
              </a:rPr>
              <a:t>17 / 18</a:t>
            </a:r>
            <a:endParaRPr lang="en-US" sz="5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pic>
        <p:nvPicPr>
          <p:cNvPr id="2" name="Image 0" descr="/mnt/data/NVD20260607-095358.jpg">    </p:cNvPr>
          <p:cNvPicPr>
            <a:picLocks noChangeAspect="1"/>
          </p:cNvPicPr>
          <p:nvPr/>
        </p:nvPicPr>
        <p:blipFill>
          <a:blip r:embed="rId1"/>
          <a:srcRect l="28073" r="28073" t="0" b="0"/>
          <a:stretch/>
        </p:blipFill>
        <p:spPr>
          <a:xfrm>
            <a:off x="5715000" y="0"/>
            <a:ext cx="4974336" cy="7559985"/>
          </a:xfrm>
          <a:prstGeom prst="rect">
            <a:avLst/>
          </a:prstGeom>
        </p:spPr>
      </p:pic>
      <p:sp>
        <p:nvSpPr>
          <p:cNvPr id="3" name="Text 0"/>
          <p:cNvSpPr/>
          <p:nvPr/>
        </p:nvSpPr>
        <p:spPr>
          <a:xfrm>
            <a:off x="502920" y="640080"/>
            <a:ext cx="4297680" cy="914400"/>
          </a:xfrm>
          <a:prstGeom prst="rect">
            <a:avLst/>
          </a:prstGeom>
          <a:noFill/>
          <a:ln/>
        </p:spPr>
        <p:txBody>
          <a:bodyPr wrap="square" lIns="0" tIns="0" rIns="0" bIns="0" rtlCol="0" anchor="t">
            <a:normAutofit/>
          </a:bodyPr>
          <a:lstStyle/>
          <a:p>
            <a:pPr algn="l" indent="0" marL="0">
              <a:buNone/>
            </a:pPr>
            <a:r>
              <a:rPr lang="en-US" sz="2900" b="1" dirty="0">
                <a:solidFill>
                  <a:srgbClr val="FFFFFF"/>
                </a:solidFill>
                <a:latin typeface="Arial" pitchFamily="34" charset="0"/>
                <a:ea typeface="Arial" pitchFamily="34" charset="-122"/>
                <a:cs typeface="Arial" pitchFamily="34" charset="-120"/>
              </a:rPr>
              <a:t>ÉCRIVONS</a:t>
            </a:r>
            <a:endParaRPr lang="en-US" sz="2900" dirty="0"/>
          </a:p>
          <a:p>
            <a:pPr algn="l" indent="0" marL="0">
              <a:buNone/>
            </a:pPr>
            <a:r>
              <a:rPr lang="en-US" sz="2900" b="1" dirty="0">
                <a:solidFill>
                  <a:srgbClr val="FFFFFF"/>
                </a:solidFill>
                <a:latin typeface="Arial" pitchFamily="34" charset="0"/>
                <a:ea typeface="Arial" pitchFamily="34" charset="-122"/>
                <a:cs typeface="Arial" pitchFamily="34" charset="-120"/>
              </a:rPr>
              <a:t>LA SUITE ENSEMBLE.</a:t>
            </a:r>
            <a:endParaRPr lang="en-US" sz="2900" dirty="0"/>
          </a:p>
        </p:txBody>
      </p:sp>
      <p:sp>
        <p:nvSpPr>
          <p:cNvPr id="4" name="Text 1"/>
          <p:cNvSpPr/>
          <p:nvPr/>
        </p:nvSpPr>
        <p:spPr>
          <a:xfrm>
            <a:off x="530352" y="1920240"/>
            <a:ext cx="4206240" cy="914400"/>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Arial" pitchFamily="34" charset="0"/>
                <a:ea typeface="Arial" pitchFamily="34" charset="-122"/>
                <a:cs typeface="Arial" pitchFamily="34" charset="-120"/>
              </a:rPr>
              <a:t>Une saison, un projet sportif et des collaborations à construire avec des entreprises qui souhaitent prendre part à l’aventure.</a:t>
            </a:r>
            <a:endParaRPr lang="en-US" sz="1000" dirty="0"/>
          </a:p>
        </p:txBody>
      </p:sp>
      <p:sp>
        <p:nvSpPr>
          <p:cNvPr id="5" name="Shape 2"/>
          <p:cNvSpPr/>
          <p:nvPr/>
        </p:nvSpPr>
        <p:spPr>
          <a:xfrm>
            <a:off x="530352" y="4937760"/>
            <a:ext cx="4206240" cy="0"/>
          </a:xfrm>
          <a:prstGeom prst="line">
            <a:avLst/>
          </a:prstGeom>
          <a:noFill/>
          <a:ln w="6985">
            <a:solidFill>
              <a:srgbClr val="555555"/>
            </a:solidFill>
            <a:prstDash val="solid"/>
          </a:ln>
        </p:spPr>
        <p:txBody>
          <a:bodyPr/>
          <a:p/>
        </p:txBody>
      </p:sp>
      <p:sp>
        <p:nvSpPr>
          <p:cNvPr id="6" name="Text 3"/>
          <p:cNvSpPr/>
          <p:nvPr/>
        </p:nvSpPr>
        <p:spPr>
          <a:xfrm>
            <a:off x="530352" y="5230368"/>
            <a:ext cx="9144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FFFFFF"/>
                </a:solidFill>
                <a:latin typeface="Arial" pitchFamily="34" charset="0"/>
                <a:ea typeface="Arial" pitchFamily="34" charset="-122"/>
                <a:cs typeface="Arial" pitchFamily="34" charset="-120"/>
              </a:rPr>
              <a:t>CONTACT</a:t>
            </a:r>
            <a:endParaRPr lang="en-US" sz="620" dirty="0"/>
          </a:p>
        </p:txBody>
      </p:sp>
      <p:sp>
        <p:nvSpPr>
          <p:cNvPr id="7" name="Text 4"/>
          <p:cNvSpPr/>
          <p:nvPr/>
        </p:nvSpPr>
        <p:spPr>
          <a:xfrm>
            <a:off x="530352" y="5623560"/>
            <a:ext cx="3474720" cy="822960"/>
          </a:xfrm>
          <a:prstGeom prst="rect">
            <a:avLst/>
          </a:prstGeom>
          <a:noFill/>
          <a:ln/>
        </p:spPr>
        <p:txBody>
          <a:bodyPr wrap="square" lIns="0" tIns="0" rIns="0" bIns="0" rtlCol="0" anchor="t">
            <a:normAutofit/>
          </a:bodyPr>
          <a:lstStyle/>
          <a:p>
            <a:pPr algn="l" indent="0" marL="0">
              <a:buNone/>
            </a:pPr>
            <a:r>
              <a:rPr lang="en-US" sz="1100" b="1" dirty="0">
                <a:solidFill>
                  <a:srgbClr val="FFFFFF"/>
                </a:solidFill>
                <a:latin typeface="Arial" pitchFamily="34" charset="0"/>
                <a:ea typeface="Arial" pitchFamily="34" charset="-122"/>
                <a:cs typeface="Arial" pitchFamily="34" charset="-120"/>
              </a:rPr>
              <a:t>piloubmx@icloud.com</a:t>
            </a:r>
            <a:endParaRPr lang="en-US" sz="1100" dirty="0"/>
          </a:p>
          <a:p>
            <a:pPr algn="l" indent="0" marL="0">
              <a:buNone/>
            </a:pPr>
            <a:r>
              <a:rPr lang="en-US" sz="1100" b="1" dirty="0">
                <a:solidFill>
                  <a:srgbClr val="FFFFFF"/>
                </a:solidFill>
                <a:latin typeface="Arial" pitchFamily="34" charset="0"/>
                <a:ea typeface="Arial" pitchFamily="34" charset="-122"/>
                <a:cs typeface="Arial" pitchFamily="34" charset="-120"/>
              </a:rPr>
              <a:t>07 66 99 55 12</a:t>
            </a:r>
            <a:endParaRPr lang="en-US" sz="1100" dirty="0"/>
          </a:p>
          <a:p>
            <a:pPr algn="l" indent="0" marL="0">
              <a:buNone/>
            </a:pPr>
            <a:r>
              <a:rPr lang="en-US" sz="1100" b="1" dirty="0">
                <a:solidFill>
                  <a:srgbClr val="FFFFFF"/>
                </a:solidFill>
                <a:latin typeface="Arial" pitchFamily="34" charset="0"/>
                <a:ea typeface="Arial" pitchFamily="34" charset="-122"/>
                <a:cs typeface="Arial" pitchFamily="34" charset="-120"/>
              </a:rPr>
              <a:t>@pilou_geisse</a:t>
            </a:r>
            <a:endParaRPr lang="en-US" sz="1100" dirty="0"/>
          </a:p>
        </p:txBody>
      </p:sp>
      <p:sp>
        <p:nvSpPr>
          <p:cNvPr id="8" name="Text 5"/>
          <p:cNvSpPr/>
          <p:nvPr/>
        </p:nvSpPr>
        <p:spPr>
          <a:xfrm>
            <a:off x="530352" y="6839712"/>
            <a:ext cx="3200400" cy="164592"/>
          </a:xfrm>
          <a:prstGeom prst="rect">
            <a:avLst/>
          </a:prstGeom>
          <a:noFill/>
          <a:ln/>
        </p:spPr>
        <p:txBody>
          <a:bodyPr wrap="square" lIns="0" tIns="0" rIns="0" bIns="0" rtlCol="0" anchor="t">
            <a:normAutofit/>
          </a:bodyPr>
          <a:lstStyle/>
          <a:p>
            <a:pPr algn="l" indent="0" marL="0">
              <a:buNone/>
            </a:pPr>
            <a:r>
              <a:rPr lang="en-US" sz="620" b="1" spc="115" kern="0" dirty="0">
                <a:solidFill>
                  <a:srgbClr val="FFFFFF"/>
                </a:solidFill>
                <a:latin typeface="Arial" pitchFamily="34" charset="0"/>
                <a:ea typeface="Arial" pitchFamily="34" charset="-122"/>
                <a:cs typeface="Arial" pitchFamily="34" charset="-120"/>
              </a:rPr>
              <a:t>PIERRE GEISSE / BMX RACING / 2027</a:t>
            </a:r>
            <a:endParaRPr lang="en-US" sz="620" dirty="0"/>
          </a:p>
        </p:txBody>
      </p:sp>
      <p:sp>
        <p:nvSpPr>
          <p:cNvPr id="9" name="Text 6"/>
          <p:cNvSpPr/>
          <p:nvPr/>
        </p:nvSpPr>
        <p:spPr>
          <a:xfrm>
            <a:off x="9784080" y="7205472"/>
            <a:ext cx="502920" cy="128016"/>
          </a:xfrm>
          <a:prstGeom prst="rect">
            <a:avLst/>
          </a:prstGeom>
          <a:noFill/>
          <a:ln/>
        </p:spPr>
        <p:txBody>
          <a:bodyPr wrap="square" lIns="0" tIns="0" rIns="0" bIns="0" rtlCol="0" anchor="t">
            <a:normAutofit/>
          </a:bodyPr>
          <a:lstStyle/>
          <a:p>
            <a:pPr algn="r" indent="0" marL="0">
              <a:buNone/>
            </a:pPr>
            <a:r>
              <a:rPr lang="en-US" sz="570" dirty="0">
                <a:solidFill>
                  <a:srgbClr val="FFFFFF"/>
                </a:solidFill>
                <a:latin typeface="Arial" pitchFamily="34" charset="0"/>
                <a:ea typeface="Arial" pitchFamily="34" charset="-122"/>
                <a:cs typeface="Arial" pitchFamily="34" charset="-120"/>
              </a:rPr>
              <a:t>18 / 18</a:t>
            </a:r>
            <a:endParaRPr lang="en-US" sz="5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Pierre Geisse — Book Partenaires 2027 V2</dc:title>
  <dc:subject>PptxGenJS Presentation</dc:subject>
  <dc:creator>OpenAI</dc:creator>
  <cp:lastModifiedBy>OpenAI</cp:lastModifiedBy>
  <cp:revision>1</cp:revision>
  <dcterms:created xsi:type="dcterms:W3CDTF">2026-08-31T15:24:01Z</dcterms:created>
  <dcterms:modified xsi:type="dcterms:W3CDTF">2026-08-31T15:24:01Z</dcterms:modified>
</cp:coreProperties>
</file>